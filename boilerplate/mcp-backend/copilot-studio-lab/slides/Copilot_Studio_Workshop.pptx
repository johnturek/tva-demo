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4063898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793992"/>
            <a:ext cx="4063898" cy="64008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793992"/>
            <a:ext cx="4063898" cy="64008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1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Segoe UI Semibold"/>
              </a:defRPr>
            </a:pPr>
            <a:r>
              <a:t>MICROSOFT COPILOT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459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Segoe UI Light"/>
              </a:defRPr>
            </a:pPr>
            <a:r>
              <a:t>Workshop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926080"/>
            <a:ext cx="3657600" cy="45720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8EBF0"/>
                </a:solidFill>
                <a:latin typeface="Segoe UI"/>
              </a:defRPr>
            </a:pPr>
            <a:r>
              <a:t>Build AI-Powered Agents — No Code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A9EB4"/>
                </a:solidFill>
                <a:latin typeface="Segoe UI"/>
              </a:defRPr>
            </a:pPr>
            <a:r>
              <a:t>Session 1 of 3: AI Agent Development Training Series for TVA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9A9EB4"/>
                </a:solidFill>
                <a:latin typeface="Segoe UI"/>
              </a:defRPr>
            </a:pPr>
            <a:r>
              <a:t>Build conversational AI agents in GCC  •  Low-code / No-code</a:t>
            </a:r>
          </a:p>
          <a:p>
            <a:pPr>
              <a:spcAft>
                <a:spcPts val="400"/>
              </a:spcAft>
              <a:defRPr sz="1700">
                <a:solidFill>
                  <a:srgbClr val="9A9EB4"/>
                </a:solidFill>
                <a:latin typeface="Segoe UI"/>
              </a:defRPr>
            </a:pPr>
            <a:r>
              <a:t>Knowledge sources  •  Tools &amp; Actions  •  Child Agents</a:t>
            </a:r>
          </a:p>
          <a:p>
            <a:pPr>
              <a:spcAft>
                <a:spcPts val="400"/>
              </a:spcAft>
              <a:defRPr sz="1700">
                <a:solidFill>
                  <a:srgbClr val="9A9EB4"/>
                </a:solidFill>
                <a:latin typeface="Segoe UI"/>
              </a:defRPr>
            </a:pPr>
            <a:r>
              <a:t>Connect to Azure AI Foundry for advanced capabilities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5029200"/>
            <a:ext cx="3017520" cy="384048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506577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A7"/>
                </a:solidFill>
                <a:latin typeface="Segoe UI"/>
              </a:defRPr>
            </a:pPr>
            <a:r>
              <a:t>Session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506577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Copilot Studio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5486400"/>
            <a:ext cx="3017520" cy="384048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30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552297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95"/>
                </a:solidFill>
                <a:latin typeface="Segoe UI"/>
              </a:defRPr>
            </a:pPr>
            <a:r>
              <a:t>Session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552297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AI Foundry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5943600"/>
            <a:ext cx="3017520" cy="384048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30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598017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5ACD"/>
                </a:solidFill>
                <a:latin typeface="Segoe UI"/>
              </a:defRPr>
            </a:pPr>
            <a:r>
              <a:t>Session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598017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Use Case 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Agenda — 90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3200400" cy="36576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155680" cy="960120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" cy="9601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298448"/>
            <a:ext cx="1554480" cy="32004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984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0:00 – 0:15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1554480" cy="27432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916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C9A7"/>
                </a:solidFill>
                <a:latin typeface="Segoe UI"/>
              </a:defRPr>
            </a:pPr>
            <a:r>
              <a:t>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2801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What Is Copilot Studio?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6459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EB4"/>
                </a:solidFill>
                <a:latin typeface="Segoe UI"/>
              </a:defRPr>
            </a:pPr>
            <a:r>
              <a:t>Key concepts, architecture, GCC landscape, when to use what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240280"/>
            <a:ext cx="11155680" cy="960120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240280"/>
            <a:ext cx="54864" cy="960120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350008"/>
            <a:ext cx="1554480" cy="320040"/>
          </a:xfrm>
          <a:prstGeom prst="round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3500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0:15 – 0:35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743200"/>
            <a:ext cx="1554480" cy="27432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FF6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743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6B95"/>
                </a:solidFill>
                <a:latin typeface="Segoe UI"/>
              </a:defRPr>
            </a:pPr>
            <a:r>
              <a:t>Hands-On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3317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Build Your First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697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EB4"/>
                </a:solidFill>
                <a:latin typeface="Segoe UI"/>
              </a:defRPr>
            </a:pPr>
            <a:r>
              <a:t>Create, configure, add knowledge, test, and create a custom topic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291839"/>
            <a:ext cx="11155680" cy="960120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291839"/>
            <a:ext cx="54864" cy="960120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3401568"/>
            <a:ext cx="1554480" cy="320040"/>
          </a:xfrm>
          <a:prstGeom prst="round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4015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0:35 – 1:00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794759"/>
            <a:ext cx="1554480" cy="27432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E0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79475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5ACD"/>
                </a:solidFill>
                <a:latin typeface="Segoe UI"/>
              </a:defRPr>
            </a:pPr>
            <a:r>
              <a:t>Slides +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38327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Three Pillars: Knowledge, Tools &amp; 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749039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EB4"/>
                </a:solidFill>
                <a:latin typeface="Segoe UI"/>
              </a:defRPr>
            </a:pPr>
            <a:r>
              <a:t>Deep dive into knowledge sources, tools/actions (Agent Flows, MCP), child agents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343400"/>
            <a:ext cx="11155680" cy="960120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343400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4453128"/>
            <a:ext cx="1554480" cy="3200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4531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1:00 – 1:20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846320"/>
            <a:ext cx="1554480" cy="27432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846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B4D8"/>
                </a:solidFill>
                <a:latin typeface="Segoe UI"/>
              </a:defRPr>
            </a:pPr>
            <a:r>
              <a:t>Presentation + Demo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4348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GCC Escape Hatch: AI Foundry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4800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EB4"/>
                </a:solidFill>
                <a:latin typeface="Segoe UI"/>
              </a:defRPr>
            </a:pPr>
            <a:r>
              <a:t>When GCC isn't enough — reach into Azure Commercial AI Foundry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394959"/>
            <a:ext cx="11155680" cy="960120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394959"/>
            <a:ext cx="54864" cy="960120"/>
          </a:xfrm>
          <a:prstGeom prst="rect">
            <a:avLst/>
          </a:prstGeom>
          <a:solidFill>
            <a:srgbClr val="48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7240" y="5504688"/>
            <a:ext cx="1554480" cy="320040"/>
          </a:xfrm>
          <a:prstGeom prst="roundRect">
            <a:avLst/>
          </a:prstGeom>
          <a:solidFill>
            <a:srgbClr val="48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504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1:20 – 1:30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897879"/>
            <a:ext cx="1554480" cy="27432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89787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8E5C2"/>
                </a:solidFill>
                <a:latin typeface="Segoe UI"/>
              </a:defRPr>
            </a:pPr>
            <a:r>
              <a:t>Discussion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548639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Wrap-Up &amp; Next Steps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0" y="5852159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EB4"/>
                </a:solidFill>
                <a:latin typeface="Segoe UI"/>
              </a:defRPr>
            </a:pPr>
            <a:r>
              <a:t>Q&amp;A, preview of Session 2 (AI Foundry) &amp; Session 3 (Use Case Dev)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400800"/>
            <a:ext cx="11155680" cy="274320"/>
          </a:xfrm>
          <a:prstGeom prst="roundRect">
            <a:avLst/>
          </a:prstGeom>
          <a:solidFill>
            <a:srgbClr val="1C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641908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Prerequisites: Microsoft 365 GCC account  •  Copilot Studio license  •  Access to gcc.powerva.microsoft.us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What Is Microsoft Copilot Studio?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457200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A9EB4"/>
                </a:solidFill>
                <a:latin typeface="Segoe UI"/>
              </a:defRPr>
            </a:pPr>
            <a:r>
              <a:t>A low-code platform for building AI-powered conversational agents — the front door for your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486400" cy="22860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Segoe UI"/>
              </a:defRPr>
            </a:pPr>
            <a:r>
              <a:t>Key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FF6B95"/>
                </a:solidFill>
                <a:latin typeface="Segoe UI"/>
              </a:rPr>
              <a:t>▸  </a:t>
            </a:r>
            <a:r>
              <a:rPr sz="1300">
                <a:solidFill>
                  <a:srgbClr val="E8EBF0"/>
                </a:solidFill>
                <a:latin typeface="Segoe UI"/>
              </a:rPr>
              <a:t>Answer questions using your org's knowledge (SharePoint, websites, files)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F6B95"/>
                </a:solidFill>
                <a:latin typeface="Segoe UI"/>
              </a:rPr>
              <a:t>▸  </a:t>
            </a:r>
            <a:r>
              <a:rPr sz="1300">
                <a:solidFill>
                  <a:srgbClr val="E8EBF0"/>
                </a:solidFill>
                <a:latin typeface="Segoe UI"/>
              </a:rPr>
              <a:t>Automate multi-step business processes via topics and actions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F6B95"/>
                </a:solidFill>
                <a:latin typeface="Segoe UI"/>
              </a:rPr>
              <a:t>▸  </a:t>
            </a:r>
            <a:r>
              <a:rPr sz="1300">
                <a:solidFill>
                  <a:srgbClr val="E8EBF0"/>
                </a:solidFill>
                <a:latin typeface="Segoe UI"/>
              </a:rPr>
              <a:t>Connect to 1,000+ data sources through Power Platform connectors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F6B95"/>
                </a:solidFill>
                <a:latin typeface="Segoe UI"/>
              </a:rPr>
              <a:t>▸  </a:t>
            </a:r>
            <a:r>
              <a:rPr sz="1300">
                <a:solidFill>
                  <a:srgbClr val="E8EBF0"/>
                </a:solidFill>
                <a:latin typeface="Segoe UI"/>
              </a:rPr>
              <a:t>Leverage generative AI (GPT-based) for grounded, contextual answers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303520" cy="22860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E0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6ECD"/>
                </a:solidFill>
                <a:latin typeface="Segoe UI"/>
              </a:defRPr>
            </a:pPr>
            <a:r>
              <a:t>Where Does It Fit?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488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User Interaction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1488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EB4"/>
                </a:solidFill>
                <a:latin typeface="Segoe UI"/>
              </a:defRPr>
            </a:pPr>
            <a:r>
              <a:t>Teams  •  Web  •  Custom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328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A9EB4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91693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95"/>
                </a:solidFill>
                <a:latin typeface="Segoe UI"/>
              </a:defRPr>
            </a:pPr>
            <a:r>
              <a:t>Copilot Studio (GCC)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91693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EB4"/>
                </a:solidFill>
                <a:latin typeface="Segoe UI"/>
              </a:defRPr>
            </a:pPr>
            <a:r>
              <a:t>You build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30098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A9EB4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685032"/>
            <a:ext cx="1463040" cy="32004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703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A7"/>
                </a:solidFill>
                <a:latin typeface="Segoe UI"/>
              </a:defRPr>
            </a:pPr>
            <a:r>
              <a:t>Knowledge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685032"/>
            <a:ext cx="1463040" cy="32004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FFA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703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04C"/>
                </a:solidFill>
                <a:latin typeface="Segoe UI"/>
              </a:defRPr>
            </a:pPr>
            <a:r>
              <a:t>Power Platform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3685032"/>
            <a:ext cx="1463040" cy="32004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3703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B4D8"/>
                </a:solidFill>
                <a:latin typeface="Segoe UI"/>
              </a:defRPr>
            </a:pPr>
            <a:r>
              <a:t>AI Foundry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06240"/>
            <a:ext cx="11155680" cy="246888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Segoe UI"/>
              </a:defRPr>
            </a:pPr>
            <a:r>
              <a:t>Key Concepts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663440"/>
            <a:ext cx="10515600" cy="18288"/>
          </a:xfrm>
          <a:prstGeom prst="rect">
            <a:avLst/>
          </a:prstGeom>
          <a:solidFill>
            <a:srgbClr val="30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754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A conversational AI bot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754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"IT Help Desk Agent"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0566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95"/>
                </a:solidFill>
                <a:latin typeface="Segoe UI"/>
              </a:defRPr>
            </a:pPr>
            <a:r>
              <a:t>Topic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0566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A conversation flow triggered by intent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056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"Password Reset" topic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3583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A65"/>
                </a:solidFill>
                <a:latin typeface="Segoe UI"/>
              </a:defRPr>
            </a:pPr>
            <a:r>
              <a:t>Trigger Phrases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3583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What the user says to activate a topic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3583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"I forgot my password"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6601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Segoe UI"/>
              </a:defRPr>
            </a:pPr>
            <a:r>
              <a:t>Knowledge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6601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Data sources the agent searches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6601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SharePoint site, public URL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961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5ACD"/>
                </a:solidFill>
                <a:latin typeface="Segoe UI"/>
              </a:defRPr>
            </a:pPr>
            <a:r>
              <a:t>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5961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Integrations that do things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5961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Create a ServiceNow ticket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6263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8E5C2"/>
                </a:solidFill>
                <a:latin typeface="Segoe UI"/>
              </a:defRPr>
            </a:pPr>
            <a:r>
              <a:t>Generative Answers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6263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AI responses grounded in knowledge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6263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"Based on your HR policy..."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Copilot Studio in GCC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3200400" cy="36576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22860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Segoe UI"/>
              </a:defRPr>
            </a:pPr>
            <a:r>
              <a:t>✅  What's the Same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00C9A7"/>
                </a:solidFill>
                <a:latin typeface="Segoe UI"/>
              </a:rPr>
              <a:t>▸  </a:t>
            </a:r>
            <a:r>
              <a:rPr sz="1300">
                <a:solidFill>
                  <a:srgbClr val="E8EBF0"/>
                </a:solidFill>
                <a:latin typeface="Segoe UI"/>
              </a:rPr>
              <a:t>Full agent-building experience (topics, knowledge, actions)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00C9A7"/>
                </a:solidFill>
                <a:latin typeface="Segoe UI"/>
              </a:rPr>
              <a:t>▸  </a:t>
            </a:r>
            <a:r>
              <a:rPr sz="1300">
                <a:solidFill>
                  <a:srgbClr val="E8EBF0"/>
                </a:solidFill>
                <a:latin typeface="Segoe UI"/>
              </a:rPr>
              <a:t>Generative AI / GPT-powered answers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00C9A7"/>
                </a:solidFill>
                <a:latin typeface="Segoe UI"/>
              </a:rPr>
              <a:t>▸  </a:t>
            </a:r>
            <a:r>
              <a:rPr sz="1300">
                <a:solidFill>
                  <a:srgbClr val="E8EBF0"/>
                </a:solidFill>
                <a:latin typeface="Segoe UI"/>
              </a:rPr>
              <a:t>Power Platform connector ecosystem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00C9A7"/>
                </a:solidFill>
                <a:latin typeface="Segoe UI"/>
              </a:rPr>
              <a:t>▸  </a:t>
            </a:r>
            <a:r>
              <a:rPr sz="1300">
                <a:solidFill>
                  <a:srgbClr val="E8EBF0"/>
                </a:solidFill>
                <a:latin typeface="Segoe UI"/>
              </a:rPr>
              <a:t>Teams channel deployment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22860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FF8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A65"/>
                </a:solidFill>
                <a:latin typeface="Segoe UI"/>
              </a:defRPr>
            </a:pPr>
            <a:r>
              <a:t>⚠️  GCC-Specific Considerations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F8A65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Portal URL: gcc.powerva.microsoft.us (not commercial!)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8A65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Data residency: all conversation data stays in GCC boundary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8A65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AI processing uses GCC-compliant endpoints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8A65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Cross-cloud to Azure Commercial requires explicit config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8A65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Some features arrive after commercial availability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E3C8"/>
                </a:solidFill>
                <a:latin typeface="Segoe UI"/>
              </a:defRPr>
            </a:pPr>
            <a:r>
              <a:t>What Can You Build?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2103120" cy="22860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210312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800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Segoe UI"/>
              </a:defRPr>
            </a:pPr>
            <a:r>
              <a:t>Employee</a:t>
            </a:r>
            <a:br/>
            <a:r>
              <a:t>Self-Service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3492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HR policy Q&amp;A, benefits</a:t>
            </a:r>
            <a:br/>
            <a:r>
              <a:t>enrollment, onboarding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4206240"/>
            <a:ext cx="2103120" cy="22860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FF6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4206240"/>
            <a:ext cx="2103120" cy="45720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800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95"/>
                </a:solidFill>
                <a:latin typeface="Segoe UI"/>
              </a:defRPr>
            </a:pPr>
            <a:r>
              <a:t>IT Help</a:t>
            </a:r>
            <a:br/>
            <a:r>
              <a:t>Desk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53492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Password resets, ticket</a:t>
            </a:r>
            <a:br/>
            <a:r>
              <a:t>creation, KB 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4206240"/>
            <a:ext cx="2103120" cy="22860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FF8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4206240"/>
            <a:ext cx="2103120" cy="45720"/>
          </a:xfrm>
          <a:prstGeom prst="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4800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A65"/>
                </a:solidFill>
                <a:latin typeface="Segoe UI"/>
              </a:defRPr>
            </a:pPr>
            <a:r>
              <a:t>Field</a:t>
            </a:r>
            <a:br/>
            <a:r>
              <a:t>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53492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Equipment manuals, safety</a:t>
            </a:r>
            <a:br/>
            <a:r>
              <a:t>procedures, compliance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4206240"/>
            <a:ext cx="2103120" cy="22860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E0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0" y="4206240"/>
            <a:ext cx="2103120" cy="45720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800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05ACD"/>
                </a:solidFill>
                <a:latin typeface="Segoe UI"/>
              </a:defRPr>
            </a:pPr>
            <a:r>
              <a:t>Customer</a:t>
            </a:r>
            <a:br/>
            <a:r>
              <a:t>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53492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Product FAQ, order status,</a:t>
            </a:r>
            <a:br/>
            <a:r>
              <a:t>appointment scheduling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4206240"/>
            <a:ext cx="2103120" cy="22860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01200" y="4206240"/>
            <a:ext cx="2103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4800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Segoe UI"/>
              </a:defRPr>
            </a:pPr>
            <a:r>
              <a:t>Internal</a:t>
            </a:r>
            <a:br/>
            <a:r>
              <a:t>Productivity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53492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Meeting prep, project</a:t>
            </a:r>
            <a:br/>
            <a:r>
              <a:t>status, approval routing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Copilot Studio vs. AI Foundry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4572000" cy="36576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A9EB4"/>
                </a:solidFill>
                <a:latin typeface="Segoe UI"/>
              </a:defRPr>
            </a:pPr>
            <a:r>
              <a:t>Copilot Studio = rapid, low-code path.  AI Foundry = code-first, advanced AI path.  Together = full spectrum.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11155680" cy="32004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E3C8"/>
                </a:solidFill>
                <a:latin typeface="Segoe UI"/>
              </a:defRPr>
            </a:pPr>
            <a: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Segoe UI"/>
              </a:defRPr>
            </a:pPr>
            <a:r>
              <a:t>Copilot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Segoe UI"/>
              </a:defRPr>
            </a:pPr>
            <a:r>
              <a:t>AI Foundry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95"/>
                </a:solidFill>
                <a:latin typeface="Segoe UI"/>
              </a:defRPr>
            </a:pPr>
            <a:r>
              <a:t>Both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057400"/>
            <a:ext cx="10515600" cy="18288"/>
          </a:xfrm>
          <a:prstGeom prst="rect">
            <a:avLst/>
          </a:prstGeom>
          <a:solidFill>
            <a:srgbClr val="30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10881360" cy="329184"/>
          </a:xfrm>
          <a:prstGeom prst="roundRect">
            <a:avLst/>
          </a:prstGeom>
          <a:solidFill>
            <a:srgbClr val="1C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1762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Simple Q&amp;A over 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762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8E5C2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762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EB4"/>
                </a:solidFill>
                <a:latin typeface="Segoe U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332720" y="21762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EB4"/>
                </a:solidFill>
                <a:latin typeface="Segoe UI"/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640080" y="2496312"/>
            <a:ext cx="10881360" cy="329184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5237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Multi-step conversation with branching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5237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8E5C2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5237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EB4"/>
                </a:solidFill>
                <a:latin typeface="Segoe U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0332720" y="25237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EB4"/>
                </a:solidFill>
                <a:latin typeface="Segoe U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640080" y="2843784"/>
            <a:ext cx="10881360" cy="329184"/>
          </a:xfrm>
          <a:prstGeom prst="roundRect">
            <a:avLst/>
          </a:prstGeom>
          <a:solidFill>
            <a:srgbClr val="1C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8712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Rapid prototype (hours, not days)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712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8E5C2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8712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EB4"/>
                </a:solidFill>
                <a:latin typeface="Segoe U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10332720" y="28712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EB4"/>
                </a:solidFill>
                <a:latin typeface="Segoe UI"/>
              </a:defRPr>
            </a:pPr>
          </a:p>
        </p:txBody>
      </p:sp>
      <p:sp>
        <p:nvSpPr>
          <p:cNvPr id="29" name="Rounded Rectangle 28"/>
          <p:cNvSpPr/>
          <p:nvPr/>
        </p:nvSpPr>
        <p:spPr>
          <a:xfrm>
            <a:off x="640080" y="3191256"/>
            <a:ext cx="10881360" cy="329184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2186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Custom ML model / fine-tuned LLM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218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EB4"/>
                </a:solidFill>
                <a:latin typeface="Segoe U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8503920" y="3218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8E5C2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3218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EB4"/>
                </a:solidFill>
                <a:latin typeface="Segoe UI"/>
              </a:defRPr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640080" y="3538728"/>
            <a:ext cx="10881360" cy="329184"/>
          </a:xfrm>
          <a:prstGeom prst="roundRect">
            <a:avLst/>
          </a:prstGeom>
          <a:solidFill>
            <a:srgbClr val="1C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RAG with custom vector index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566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EB4"/>
                </a:solidFill>
                <a:latin typeface="Segoe UI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8503920" y="3566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8E5C2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3566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EB4"/>
                </a:solidFill>
                <a:latin typeface="Segoe UI"/>
              </a:defRPr>
            </a:pPr>
          </a:p>
        </p:txBody>
      </p:sp>
      <p:sp>
        <p:nvSpPr>
          <p:cNvPr id="39" name="Rounded Rectangle 38"/>
          <p:cNvSpPr/>
          <p:nvPr/>
        </p:nvSpPr>
        <p:spPr>
          <a:xfrm>
            <a:off x="640080" y="3886200"/>
            <a:ext cx="10881360" cy="329184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913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Code-first agent with custom orchestration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39136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EB4"/>
                </a:solidFill>
                <a:latin typeface="Segoe UI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8503920" y="39136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8E5C2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39136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EB4"/>
                </a:solidFill>
                <a:latin typeface="Segoe UI"/>
              </a:defRPr>
            </a:pPr>
          </a:p>
        </p:txBody>
      </p:sp>
      <p:sp>
        <p:nvSpPr>
          <p:cNvPr id="44" name="Rounded Rectangle 43"/>
          <p:cNvSpPr/>
          <p:nvPr/>
        </p:nvSpPr>
        <p:spPr>
          <a:xfrm>
            <a:off x="640080" y="4233672"/>
            <a:ext cx="10881360" cy="329184"/>
          </a:xfrm>
          <a:prstGeom prst="roundRect">
            <a:avLst/>
          </a:prstGeom>
          <a:solidFill>
            <a:srgbClr val="1C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42611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Conversational UI + advanced AI backend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2611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EB4"/>
                </a:solidFill>
                <a:latin typeface="Segoe UI"/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8503920" y="42611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EB4"/>
                </a:solidFill>
                <a:latin typeface="Segoe UI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0332720" y="42611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8E5C2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5029200"/>
            <a:ext cx="11155680" cy="82296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FF6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074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Segoe UI"/>
              </a:defRPr>
            </a:pPr>
            <a:r>
              <a:t>💡  Copilot Studio is the front door (user interaction, channels, compliance).  AI Foundry is the back room (custom models, advanced RAG, code-first agents).  Together: GCC compliance for UX + Azure Commercial's full AI catalog for the brains.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6035040"/>
            <a:ext cx="3474720" cy="64008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60624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No custom models needed?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63367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Segoe UI"/>
              </a:defRPr>
            </a:pPr>
            <a:r>
              <a:t>→  Copilot Studio alone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97680" y="6035040"/>
            <a:ext cx="3474720" cy="64008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80560" y="60624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Custom models, no UI needed?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0" y="63367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Segoe UI"/>
              </a:defRPr>
            </a:pPr>
            <a:r>
              <a:t>→  AI Foundry alone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46720" y="6035040"/>
            <a:ext cx="3657600" cy="64008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FF6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0" y="6062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Custom models + conversational UI?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63367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95"/>
                </a:solidFill>
                <a:latin typeface="Segoe UI"/>
              </a:defRPr>
            </a:pPr>
            <a:r>
              <a:t>→  Use BOTH together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Lab — Build Your First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3657600" cy="36576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A9EB4"/>
                </a:solidFill>
                <a:latin typeface="Segoe UI"/>
              </a:defRPr>
            </a:pPr>
            <a:r>
              <a:t>Hands-on: go from zero to a working AI agent in 25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1155680" cy="768096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54864" cy="76809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81912"/>
            <a:ext cx="457200" cy="34747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Segoe UI"/>
              </a:defRPr>
            </a:pPr>
            <a:r>
              <a:t>Open Copilot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Navigate to gcc.powerva.microsoft.us — sign in with GCC M365 account.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581912"/>
            <a:ext cx="4754880" cy="59436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61848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A7"/>
                </a:solidFill>
                <a:latin typeface="Segoe UI"/>
              </a:defRPr>
            </a:pPr>
            <a:r>
              <a:t>⚠️  Do NOT use copilotstudio.microsoft.com — that's commercial!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350008"/>
            <a:ext cx="11155680" cy="768096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350008"/>
            <a:ext cx="54864" cy="768096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423160"/>
            <a:ext cx="457200" cy="347472"/>
          </a:xfrm>
          <a:prstGeom prst="round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39572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95"/>
                </a:solidFill>
                <a:latin typeface="Segoe UI"/>
              </a:defRPr>
            </a:pPr>
            <a:r>
              <a:t>Create a New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6700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Name it "Training Demo Agent" — set instructions (the system prompt).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2423160"/>
            <a:ext cx="4754880" cy="59436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FF6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45973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95"/>
                </a:solidFill>
                <a:latin typeface="Segoe UI"/>
              </a:defRPr>
            </a:pPr>
            <a:r>
              <a:t>Instructions tell the AI how to behave. Keep it clear and specific.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191256"/>
            <a:ext cx="11155680" cy="768096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191256"/>
            <a:ext cx="54864" cy="768096"/>
          </a:xfrm>
          <a:prstGeom prst="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3264408"/>
            <a:ext cx="457200" cy="347472"/>
          </a:xfrm>
          <a:prstGeom prst="round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2369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A65"/>
                </a:solidFill>
                <a:latin typeface="Segoe UI"/>
              </a:defRPr>
            </a:pPr>
            <a:r>
              <a:t>Add Knowledge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5112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Add a public website URL. The AI crawls, indexes, and grounds answers.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3264408"/>
            <a:ext cx="4754880" cy="59436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FF8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0098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8A65"/>
                </a:solidFill>
                <a:latin typeface="Segoe UI"/>
              </a:defRPr>
            </a:pPr>
            <a:r>
              <a:t>Generative answers are grounded in real content with citation links.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032504"/>
            <a:ext cx="11155680" cy="768096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032504"/>
            <a:ext cx="54864" cy="768096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7240" y="4105656"/>
            <a:ext cx="457200" cy="347472"/>
          </a:xfrm>
          <a:prstGeom prst="round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078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5ACD"/>
                </a:solidFill>
                <a:latin typeface="Segoe UI"/>
              </a:defRPr>
            </a:pPr>
            <a:r>
              <a:t>Test Your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3525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Open the test panel — try prompts and see grounded AI responses.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0" y="4105656"/>
            <a:ext cx="4754880" cy="59436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E0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14223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5ACD"/>
                </a:solidFill>
                <a:latin typeface="Segoe UI"/>
              </a:defRPr>
            </a:pPr>
            <a:r>
              <a:t>Notice citation links showing where each answer came from.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873752"/>
            <a:ext cx="11155680" cy="768096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873752"/>
            <a:ext cx="54864" cy="7680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" y="4946904"/>
            <a:ext cx="45720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919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Segoe UI"/>
              </a:defRPr>
            </a:pPr>
            <a:r>
              <a:t>Custom Topic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1937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Build a "Training Schedule" topic with trigger phrases + message node.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0" y="4946904"/>
            <a:ext cx="4754880" cy="59436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49834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Segoe UI"/>
              </a:defRPr>
            </a:pPr>
            <a:r>
              <a:t>Topics = structured flows. Generative = open-ended. AI picks which.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715000"/>
            <a:ext cx="11155680" cy="768096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5715000"/>
            <a:ext cx="54864" cy="768096"/>
          </a:xfrm>
          <a:prstGeom prst="rect">
            <a:avLst/>
          </a:prstGeom>
          <a:solidFill>
            <a:srgbClr val="48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77240" y="5788152"/>
            <a:ext cx="457200" cy="347472"/>
          </a:xfrm>
          <a:prstGeom prst="roundRect">
            <a:avLst/>
          </a:prstGeom>
          <a:solidFill>
            <a:srgbClr val="48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5760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8E5C2"/>
                </a:solidFill>
                <a:latin typeface="Segoe UI"/>
              </a:defRPr>
            </a:pPr>
            <a:r>
              <a:t>Explore Settings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6035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AI settings, deployment channels (Teams, Web), and analytics.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66560" y="5788152"/>
            <a:ext cx="4754880" cy="59436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582472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8E5C2"/>
                </a:solidFill>
                <a:latin typeface="Segoe UI"/>
              </a:defRPr>
            </a:pPr>
            <a:r>
              <a:t>Teams channel is the most common GCC deployment target.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Three Pillars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2286000" cy="36576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A9EB4"/>
                </a:solidFill>
                <a:latin typeface="Segoe UI"/>
              </a:defRPr>
            </a:pPr>
            <a:r>
              <a:t>Every Copilot Studio agent is built on three foundational pillars.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3657600" cy="484632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36576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Segoe UI"/>
              </a:defRPr>
            </a:pPr>
            <a:r>
              <a:t>📚 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Segoe UI"/>
              </a:defRPr>
            </a:pPr>
            <a:r>
              <a:t>What the agent KNOWS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31720"/>
            <a:ext cx="329184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231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0C9A7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Public websites (crawled &amp; indexed)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C9A7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SharePoint sites &amp; document libraries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C9A7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Uploaded files (PDF, Word, Excel)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C9A7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Dataverse structured data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C9A7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Microsoft Graph (M365 content)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212080"/>
            <a:ext cx="3383280" cy="45720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257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A7"/>
                </a:solidFill>
                <a:latin typeface="Segoe UI"/>
              </a:defRPr>
            </a:pPr>
            <a:r>
              <a:t>Gives the agent information to answer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554480"/>
            <a:ext cx="3657600" cy="484632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FF6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554480"/>
            <a:ext cx="3657600" cy="54864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95"/>
                </a:solidFill>
                <a:latin typeface="Segoe UI"/>
              </a:defRPr>
            </a:pPr>
            <a:r>
              <a:t>🔧  TOOLS (Actions)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Segoe UI"/>
              </a:defRPr>
            </a:pPr>
            <a:r>
              <a:t>What the agent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331720"/>
            <a:ext cx="3291840" cy="18288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4231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F6B95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Connector actions (1,000+ pre-built)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6B95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Agent Flows (No Premium license!)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6B95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HTTP requests (any REST API)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6B95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Custom connectors (Swagger/OpenAPI)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6B95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MCP — Model Context Protocol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5212080"/>
            <a:ext cx="3383280" cy="45720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FF6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5257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95"/>
                </a:solidFill>
                <a:latin typeface="Segoe UI"/>
              </a:defRPr>
            </a:pPr>
            <a:r>
              <a:t>Lets the agent take actions in external systems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554480"/>
            <a:ext cx="3657600" cy="484632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E0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554480"/>
            <a:ext cx="3657600" cy="54864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5ACD"/>
                </a:solidFill>
                <a:latin typeface="Segoe UI"/>
              </a:defRPr>
            </a:pPr>
            <a:r>
              <a:t>🤖 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Segoe UI"/>
              </a:defRPr>
            </a:pPr>
            <a:r>
              <a:t>Who the agent ASKS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2331720"/>
            <a:ext cx="3291840" cy="18288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4231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E05ACD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Child agents (same environment)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E05ACD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Connected agents (cross-environment)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E05ACD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Modular, multi-agent architectures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E05ACD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Specialized domain delegation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E05ACD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Enterprise-scale routing patterns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5212080"/>
            <a:ext cx="3383280" cy="45720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E0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5257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5ACD"/>
                </a:solidFill>
                <a:latin typeface="Segoe UI"/>
              </a:defRPr>
            </a:pPr>
            <a:r>
              <a:t>Delegates specialized tasks to other agents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6492240"/>
            <a:ext cx="11247120" cy="274320"/>
          </a:xfrm>
          <a:prstGeom prst="roundRect">
            <a:avLst/>
          </a:prstGeom>
          <a:solidFill>
            <a:srgbClr val="1C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651052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💡  Knowledge for answering  •  Tools for doing  •  Agents for delegating — combine all three for a well-built agent.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Pillar 1 —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274320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A9EB4"/>
                </a:solidFill>
                <a:latin typeface="Segoe UI"/>
              </a:defRPr>
            </a:pPr>
            <a:r>
              <a:t>Knowledge sources are the data your agent searches to generate grounded answers with citations.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6858000" cy="27432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Segoe UI"/>
              </a:defRPr>
            </a:pPr>
            <a:r>
              <a:t>Knowledge Source Types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965960"/>
            <a:ext cx="6400800" cy="18288"/>
          </a:xfrm>
          <a:prstGeom prst="rect">
            <a:avLst/>
          </a:prstGeom>
          <a:solidFill>
            <a:srgbClr val="30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057400"/>
            <a:ext cx="6583680" cy="329184"/>
          </a:xfrm>
          <a:prstGeom prst="roundRect">
            <a:avLst/>
          </a:prstGeom>
          <a:solidFill>
            <a:srgbClr val="1C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848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Public websites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08483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EB4"/>
                </a:solidFill>
                <a:latin typeface="Segoe UI"/>
              </a:defRPr>
            </a:pPr>
            <a:r>
              <a:t>URLs the agent crawls and indexes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8483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8E5C2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04872"/>
            <a:ext cx="6583680" cy="329184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43230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SharePoint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432303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EB4"/>
                </a:solidFill>
                <a:latin typeface="Segoe UI"/>
              </a:defRPr>
            </a:pPr>
            <a:r>
              <a:t>SharePoint Online sites &amp; doc libraries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32303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8E5C2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752344"/>
            <a:ext cx="6583680" cy="329184"/>
          </a:xfrm>
          <a:prstGeom prst="roundRect">
            <a:avLst/>
          </a:prstGeom>
          <a:solidFill>
            <a:srgbClr val="1C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77977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Uploaded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779775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EB4"/>
                </a:solidFill>
                <a:latin typeface="Segoe UI"/>
              </a:defRPr>
            </a:pPr>
            <a:r>
              <a:t>PDF, Word, Excel uploaded directly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779775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8E5C2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099816"/>
            <a:ext cx="6583680" cy="329184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1272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Dataverse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1272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EB4"/>
                </a:solidFill>
                <a:latin typeface="Segoe UI"/>
              </a:defRPr>
            </a:pPr>
            <a:r>
              <a:t>Structured data in Dataverse tables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1272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8E5C2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447288"/>
            <a:ext cx="6583680" cy="329184"/>
          </a:xfrm>
          <a:prstGeom prst="roundRect">
            <a:avLst/>
          </a:prstGeom>
          <a:solidFill>
            <a:srgbClr val="1C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474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Microsoft Graph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474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EB4"/>
                </a:solidFill>
                <a:latin typeface="Segoe UI"/>
              </a:defRPr>
            </a:pPr>
            <a:r>
              <a:t>M365 content (emails, Teams, OneDrive)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4747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8A65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1554480"/>
            <a:ext cx="3931920" cy="27432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FF6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95"/>
                </a:solidFill>
                <a:latin typeface="Segoe UI"/>
              </a:defRPr>
            </a:pPr>
            <a:r>
              <a:t>How It Works (RAG)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2011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User asks: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EB4"/>
                </a:solidFill>
                <a:latin typeface="Segoe UI"/>
              </a:defRPr>
            </a:pPr>
            <a:r>
              <a:t>"What's our PTO policy?"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423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A7"/>
                </a:solidFill>
                <a:latin typeface="Segoe UI"/>
              </a:defRPr>
            </a:pPr>
            <a:r>
              <a:t>→ AI searches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423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EB4"/>
                </a:solidFill>
                <a:latin typeface="Segoe UI"/>
              </a:defRPr>
            </a:pPr>
            <a:r>
              <a:t>all knowledge sources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2834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Segoe UI"/>
              </a:defRPr>
            </a:pPr>
            <a:r>
              <a:t>→ Retrieves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EB4"/>
                </a:solidFill>
                <a:latin typeface="Segoe UI"/>
              </a:defRPr>
            </a:pPr>
            <a:r>
              <a:t>relevant chunks from SharePoint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246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8E5C2"/>
                </a:solidFill>
                <a:latin typeface="Segoe UI"/>
              </a:defRPr>
            </a:pPr>
            <a:r>
              <a:t>→ Generates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EB4"/>
                </a:solidFill>
                <a:latin typeface="Segoe UI"/>
              </a:defRPr>
            </a:pPr>
            <a:r>
              <a:t>grounded answer with citations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BF0"/>
                </a:solidFill>
                <a:latin typeface="Segoe UI"/>
              </a:defRPr>
            </a:pPr>
            <a:r>
              <a:t>→ Responds: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EB4"/>
                </a:solidFill>
                <a:latin typeface="Segoe UI"/>
              </a:defRPr>
            </a:pPr>
            <a:r>
              <a:t>"Based on your HR policy,</a:t>
            </a:r>
            <a:br/>
            <a:r>
              <a:t>employees get 15 days PTO..."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480560"/>
            <a:ext cx="11155680" cy="210312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FF8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A65"/>
                </a:solidFill>
                <a:latin typeface="Segoe UI"/>
              </a:defRPr>
            </a:pPr>
            <a:r>
              <a:t>Best Practices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4919472"/>
            <a:ext cx="10515600" cy="18288"/>
          </a:xfrm>
          <a:prstGeom prst="rect">
            <a:avLst/>
          </a:prstGeom>
          <a:solidFill>
            <a:srgbClr val="30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2960" y="5047488"/>
            <a:ext cx="457200" cy="34747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1732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Segoe UI"/>
              </a:defRPr>
            </a:pPr>
            <a:r>
              <a:t>Be specific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5029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Add targeted URLs, not entire site root domains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" y="5340096"/>
            <a:ext cx="457200" cy="347472"/>
          </a:xfrm>
          <a:prstGeom prst="round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17320" y="5321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95"/>
                </a:solidFill>
                <a:latin typeface="Segoe UI"/>
              </a:defRPr>
            </a:pPr>
            <a:r>
              <a:t>Keep content current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53218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Stale knowledge = wrong answers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" y="5632703"/>
            <a:ext cx="45720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17320" y="56144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Segoe UI"/>
              </a:defRPr>
            </a:pPr>
            <a:r>
              <a:t>Test with real questions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0" y="56144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Verify the agent finds and cites the right sources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" y="5925312"/>
            <a:ext cx="457200" cy="347472"/>
          </a:xfrm>
          <a:prstGeom prst="round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59070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5ACD"/>
                </a:solidFill>
                <a:latin typeface="Segoe UI"/>
              </a:defRPr>
            </a:pPr>
            <a:r>
              <a:t>Layer sources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0" y="59070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Combine SharePoint (internal) + websites (external)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" y="6217920"/>
            <a:ext cx="457200" cy="347472"/>
          </a:xfrm>
          <a:prstGeom prst="round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17320" y="6199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A65"/>
                </a:solidFill>
                <a:latin typeface="Segoe UI"/>
              </a:defRPr>
            </a:pPr>
            <a:r>
              <a:t>Use descriptions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0" y="61996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Add descriptions so the AI knows when to use each source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Pillar 2 — Tools (Actions)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3200400" cy="36576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A9EB4"/>
                </a:solidFill>
                <a:latin typeface="Segoe UI"/>
              </a:defRPr>
            </a:pPr>
            <a:r>
              <a:t>Tools let your agent DO things — connect to external systems, run workflows, retrieve or update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2148840" cy="256032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214884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C9A7"/>
                </a:solidFill>
                <a:latin typeface="Segoe UI"/>
              </a:defRPr>
            </a:pPr>
            <a:r>
              <a:t>Connector</a:t>
            </a:r>
            <a:br/>
            <a:r>
              <a:t>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1,000+ pre-built</a:t>
            </a:r>
            <a:br/>
            <a:r>
              <a:t>Power Platform</a:t>
            </a:r>
            <a:br/>
            <a:r>
              <a:t>connectors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400"/>
            <a:ext cx="914400" cy="274320"/>
          </a:xfrm>
          <a:prstGeom prst="round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EB4"/>
                </a:solidFill>
                <a:latin typeface="Segoe UI"/>
              </a:defRPr>
            </a:pPr>
            <a:r>
              <a:t>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3200400"/>
            <a:ext cx="960120" cy="27432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8E5C2"/>
                </a:solidFill>
                <a:latin typeface="Segoe UI"/>
              </a:defRPr>
            </a:pPr>
            <a:r>
              <a:t>Included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79" y="1554480"/>
            <a:ext cx="2148840" cy="256032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FF6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79" y="1554480"/>
            <a:ext cx="2148840" cy="45720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169164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6B95"/>
                </a:solidFill>
                <a:latin typeface="Segoe UI"/>
              </a:defRPr>
            </a:pPr>
            <a:r>
              <a:t>Agent</a:t>
            </a:r>
            <a:br/>
            <a:r>
              <a:t>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286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Power Automate</a:t>
            </a:r>
            <a:br/>
            <a:r>
              <a:t>built in Copilot</a:t>
            </a:r>
            <a:br/>
            <a:r>
              <a:t>Studio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200400"/>
            <a:ext cx="914400" cy="274320"/>
          </a:xfrm>
          <a:prstGeom prst="round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EB4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59" y="3200400"/>
            <a:ext cx="960120" cy="27432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59" y="32004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8E5C2"/>
                </a:solidFill>
                <a:latin typeface="Segoe UI"/>
              </a:defRPr>
            </a:pPr>
            <a:r>
              <a:t>No Premium!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1554480"/>
            <a:ext cx="2148840" cy="256032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FF8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1554480"/>
            <a:ext cx="2148840" cy="45720"/>
          </a:xfrm>
          <a:prstGeom prst="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169164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A65"/>
                </a:solidFill>
                <a:latin typeface="Segoe UI"/>
              </a:defRPr>
            </a:pPr>
            <a:r>
              <a:t>HTTP</a:t>
            </a:r>
            <a:br/>
            <a:r>
              <a:t>Requests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286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Call any REST</a:t>
            </a:r>
            <a:br/>
            <a:r>
              <a:t>API directly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3200400"/>
            <a:ext cx="914400" cy="274320"/>
          </a:xfrm>
          <a:prstGeom prst="round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EB4"/>
                </a:solidFill>
                <a:latin typeface="Segoe UI"/>
              </a:defRPr>
            </a:pPr>
            <a:r>
              <a:t>Med-High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200400"/>
            <a:ext cx="960120" cy="27432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004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8E5C2"/>
                </a:solidFill>
                <a:latin typeface="Segoe UI"/>
              </a:defRPr>
            </a:pPr>
            <a:r>
              <a:t>Included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60919" y="1554480"/>
            <a:ext cx="2148840" cy="256032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E0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19" y="1554480"/>
            <a:ext cx="2148840" cy="45720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59" y="169164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5ACD"/>
                </a:solidFill>
                <a:latin typeface="Segoe UI"/>
              </a:defRPr>
            </a:pPr>
            <a:r>
              <a:t>Custom</a:t>
            </a:r>
            <a:br/>
            <a:r>
              <a:t>Connectors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59" y="2286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Your own APIs</a:t>
            </a:r>
            <a:br/>
            <a:r>
              <a:t>via Swagger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59" y="3200400"/>
            <a:ext cx="914400" cy="274320"/>
          </a:xfrm>
          <a:prstGeom prst="round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59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EB4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58199" y="3200400"/>
            <a:ext cx="960120" cy="27432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FF8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199" y="32004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8A65"/>
                </a:solidFill>
                <a:latin typeface="Segoe UI"/>
              </a:defRPr>
            </a:pPr>
            <a:r>
              <a:t>Premium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92640" y="1554480"/>
            <a:ext cx="2148840" cy="256032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92640" y="1554480"/>
            <a:ext cx="21488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169164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Segoe UI"/>
              </a:defRPr>
            </a:pPr>
            <a:r>
              <a:t>MCP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2286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Model Context</a:t>
            </a:r>
            <a:br/>
            <a:r>
              <a:t>Protocol — universal</a:t>
            </a:r>
            <a:br/>
            <a:r>
              <a:t>tool standard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84080" y="3200400"/>
            <a:ext cx="914400" cy="274320"/>
          </a:xfrm>
          <a:prstGeom prst="round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0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EB4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789919" y="3200400"/>
            <a:ext cx="960120" cy="27432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89919" y="32004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8E5C2"/>
                </a:solidFill>
                <a:latin typeface="Segoe UI"/>
              </a:defRPr>
            </a:pPr>
            <a:r>
              <a:t>Included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4389120"/>
            <a:ext cx="5486400" cy="22860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FF6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95"/>
                </a:solidFill>
                <a:latin typeface="Segoe UI"/>
              </a:defRPr>
            </a:pPr>
            <a:r>
              <a:t>🆕  Agent Flows — Game-Changer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48920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F6B95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No Premium licensing — biggest adoption barrier removed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6B95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Built directly in Copilot Studio, not separate tab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6B95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Full Power Automate capability: conditions, loops, connectors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6B95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Flows scoped to the agent — easier to manage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6B95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Seamless input/output mapping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60" y="4389120"/>
            <a:ext cx="5394960" cy="22860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🆕  MCP — USB-C for AI Agents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48920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0B4D8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Open standard — build once, connect to any MCP client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B4D8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Copilot Studio, GitHub Copilot, Claude, and more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B4D8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On-premises bridge — MCP servers inside your network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B4D8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Growing ecosystem (databases, APIs, dev tools)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B4D8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Escape hatch for tools (AI Foundry = models)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Pillar 3 — Child &amp; Connected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4114800" cy="36576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A9EB4"/>
                </a:solidFill>
                <a:latin typeface="Segoe UI"/>
              </a:defRPr>
            </a:pPr>
            <a:r>
              <a:t>Modularize instead of one massive agent — create specialists the parent routes 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1155680" cy="22860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E0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6ECD"/>
                </a:solidFill>
                <a:latin typeface="Segoe UI"/>
              </a:defRPr>
            </a:pPr>
            <a:r>
              <a:t>Multi-Agent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057400"/>
            <a:ext cx="3931920" cy="54864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FF6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084831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95"/>
                </a:solidFill>
                <a:latin typeface="Segoe UI"/>
              </a:defRPr>
            </a:pPr>
            <a:r>
              <a:t>🏢  Parent Agent (Main entry point)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06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03350"/>
                </a:solidFill>
                <a:latin typeface="Segoe UI"/>
              </a:defRPr>
            </a:pPr>
            <a:r>
              <a:t>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606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03350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06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03350"/>
                </a:solidFill>
                <a:latin typeface="Segoe UI"/>
              </a:defRPr>
            </a:pPr>
            <a:r>
              <a:t>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2926080"/>
            <a:ext cx="3017520" cy="82296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2944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A7"/>
                </a:solidFill>
                <a:latin typeface="Segoe UI"/>
              </a:defRPr>
            </a:pPr>
            <a:r>
              <a:t>👩‍💼  HR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291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PTO policy • Benefits</a:t>
            </a:r>
            <a:br/>
            <a:r>
              <a:t>Onboarding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926080"/>
            <a:ext cx="3017520" cy="82296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FF6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2944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95"/>
                </a:solidFill>
                <a:latin typeface="Segoe UI"/>
              </a:defRPr>
            </a:pPr>
            <a:r>
              <a:t>💻  IT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291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Tickets • VPN access</a:t>
            </a:r>
            <a:br/>
            <a:r>
              <a:t>Equipment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926080"/>
            <a:ext cx="3017520" cy="82296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E0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944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5ACD"/>
                </a:solidFill>
                <a:latin typeface="Segoe UI"/>
              </a:defRPr>
            </a:pPr>
            <a:r>
              <a:t>🏗️  Facilities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291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Room booking • Maint.</a:t>
            </a:r>
            <a:br/>
            <a:r>
              <a:t>Parking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14800"/>
            <a:ext cx="5486400" cy="256032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Child vs. Connected Agents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553712"/>
            <a:ext cx="5029200" cy="18288"/>
          </a:xfrm>
          <a:prstGeom prst="rect">
            <a:avLst/>
          </a:prstGeom>
          <a:solidFill>
            <a:srgbClr val="30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E3C8"/>
                </a:solidFill>
                <a:latin typeface="Segoe UI"/>
              </a:defRPr>
            </a:pPr>
            <a:r>
              <a:t>Feature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E3C8"/>
                </a:solidFill>
                <a:latin typeface="Segoe UI"/>
              </a:defRPr>
            </a:pPr>
            <a:r>
              <a:t>Child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E3C8"/>
                </a:solidFill>
                <a:latin typeface="Segoe UI"/>
              </a:defRPr>
            </a:pPr>
            <a:r>
              <a:t>Connected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919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Relationship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919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Same environment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919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Independent / cross-env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2212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Routing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2212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Parent routes via topic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2212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Orchestrator matches intent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5229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Use case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5229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Modular domains, one 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5229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Cross-team collaboration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8247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Autonomy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5824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Shares parent settings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5824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Own settings &amp; channels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6126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GCC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0" y="612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✅ Available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612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9EB4"/>
                </a:solidFill>
                <a:latin typeface="Segoe UI"/>
              </a:defRPr>
            </a:pPr>
            <a:r>
              <a:t>✅ Available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4114800"/>
            <a:ext cx="5394960" cy="256032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FF8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A65"/>
                </a:solidFill>
                <a:latin typeface="Segoe UI"/>
              </a:defRPr>
            </a:pPr>
            <a:r>
              <a:t>When to Use Multi-Agent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4553712"/>
            <a:ext cx="4846320" cy="18288"/>
          </a:xfrm>
          <a:prstGeom prst="rect">
            <a:avLst/>
          </a:prstGeom>
          <a:solidFill>
            <a:srgbClr val="30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46634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One team, multiple domains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489204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A7"/>
                </a:solidFill>
                <a:latin typeface="Segoe UI"/>
              </a:defRPr>
            </a:pPr>
            <a:r>
              <a:t>→  Child agents under a parent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51206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Different teams own capabilities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34924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95"/>
                </a:solidFill>
                <a:latin typeface="Segoe UI"/>
              </a:defRPr>
            </a:pPr>
            <a:r>
              <a:t>→  Connected agents — each builds their own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55778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Specialized AI (legal vs. general)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580644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5ACD"/>
                </a:solidFill>
                <a:latin typeface="Segoe UI"/>
              </a:defRPr>
            </a:pPr>
            <a:r>
              <a:t>→  Child with tailored instructions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60350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Cross-org federation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626364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Segoe UI"/>
              </a:defRPr>
            </a:pPr>
            <a:r>
              <a:t>→  Connected agents across environments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6492240"/>
            <a:ext cx="11155680" cy="274320"/>
          </a:xfrm>
          <a:prstGeom prst="roundRect">
            <a:avLst/>
          </a:prstGeom>
          <a:solidFill>
            <a:srgbClr val="1C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651052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💡  Think of it like a call center: the parent is the receptionist, child agents are the specialists.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Lab — Knowledge, Tools &amp; Child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5029200" cy="36576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A9EB4"/>
                </a:solidFill>
                <a:latin typeface="Segoe UI"/>
              </a:defRPr>
            </a:pPr>
            <a:r>
              <a:t>Extend your agent with all three pillars — knowledge sources, tools (including Agent Flows!), and a child 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3657600" cy="475488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6576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600200"/>
            <a:ext cx="502920" cy="36576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Expand Knowledge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1627632"/>
            <a:ext cx="777240" cy="292608"/>
          </a:xfrm>
          <a:prstGeom prst="round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62763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A9EB4"/>
                </a:solidFill>
                <a:latin typeface="Segoe UI"/>
              </a:defRPr>
            </a:pPr>
            <a:r>
              <a:t>8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011680"/>
            <a:ext cx="3383280" cy="1828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167128"/>
            <a:ext cx="457200" cy="34747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148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Add SharePoint knowledge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44368"/>
            <a:ext cx="457200" cy="34747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9260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Upload a file (PDF/Word)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21607"/>
            <a:ext cx="457200" cy="34747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703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Test multi-source queries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98848"/>
            <a:ext cx="457200" cy="34747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4805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Add knowledge descriptions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1463040"/>
            <a:ext cx="3657600" cy="475488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FF6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1463040"/>
            <a:ext cx="3657600" cy="54864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34840" y="1600200"/>
            <a:ext cx="502920" cy="365760"/>
          </a:xfrm>
          <a:prstGeom prst="round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16002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95"/>
                </a:solidFill>
                <a:latin typeface="Segoe UI"/>
              </a:defRPr>
            </a:pPr>
            <a:r>
              <a:t>Add Tools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1627632"/>
            <a:ext cx="777240" cy="292608"/>
          </a:xfrm>
          <a:prstGeom prst="round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162763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A9EB4"/>
                </a:solidFill>
                <a:latin typeface="Segoe UI"/>
              </a:defRPr>
            </a:pPr>
            <a:r>
              <a:t>12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2011680"/>
            <a:ext cx="3383280" cy="18288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480560" y="2167128"/>
            <a:ext cx="457200" cy="347472"/>
          </a:xfrm>
          <a:prstGeom prst="round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2148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Add connector (MSN Weather)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2944368"/>
            <a:ext cx="457200" cy="347472"/>
          </a:xfrm>
          <a:prstGeom prst="round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29260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Create Agent Flow — no Premium!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3721607"/>
            <a:ext cx="457200" cy="347472"/>
          </a:xfrm>
          <a:prstGeom prst="round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3703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Enable Generative Actions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60" y="4498848"/>
            <a:ext cx="457200" cy="347472"/>
          </a:xfrm>
          <a:prstGeom prst="round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44805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Test tool routing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1463040"/>
            <a:ext cx="3657600" cy="475488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E0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1463040"/>
            <a:ext cx="3657600" cy="54864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75320" y="1600200"/>
            <a:ext cx="502920" cy="365760"/>
          </a:xfrm>
          <a:prstGeom prst="round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16002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5ACD"/>
                </a:solidFill>
                <a:latin typeface="Segoe UI"/>
              </a:defRPr>
            </a:pPr>
            <a:r>
              <a:t>Child Agent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881360" y="1627632"/>
            <a:ext cx="777240" cy="292608"/>
          </a:xfrm>
          <a:prstGeom prst="round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81360" y="162763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A9EB4"/>
                </a:solidFill>
                <a:latin typeface="Segoe UI"/>
              </a:defRPr>
            </a:pPr>
            <a:r>
              <a:t>7 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20" y="2011680"/>
            <a:ext cx="3383280" cy="18288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321040" y="2167128"/>
            <a:ext cx="457200" cy="347472"/>
          </a:xfrm>
          <a:prstGeom prst="round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15400" y="2148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Create "Training FAQ Agent"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21040" y="2944368"/>
            <a:ext cx="457200" cy="347472"/>
          </a:xfrm>
          <a:prstGeom prst="round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400" y="29260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Connect child to parent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21040" y="3721607"/>
            <a:ext cx="457200" cy="347472"/>
          </a:xfrm>
          <a:prstGeom prst="round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3703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Test multi-agent routing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6400800"/>
            <a:ext cx="11247120" cy="36576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6428232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Segoe UI"/>
              </a:defRPr>
            </a:pPr>
            <a:r>
              <a:t>✅  Your agent now KNOWS things (knowledge), DOES things (tools), and DELEGATES (child agents) — AI routes automatically.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GCC Escape Hatch — AI Foundry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03520" cy="18288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FF8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A65"/>
                </a:solidFill>
                <a:latin typeface="Segoe UI"/>
              </a:defRPr>
            </a:pPr>
            <a:r>
              <a:t>⚠️  GCC Has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F8A65"/>
                </a:solidFill>
                <a:latin typeface="Segoe UI"/>
              </a:rPr>
              <a:t>✗  </a:t>
            </a:r>
            <a:r>
              <a:rPr sz="1200">
                <a:solidFill>
                  <a:srgbClr val="E8EBF0"/>
                </a:solidFill>
                <a:latin typeface="Segoe UI"/>
              </a:rPr>
              <a:t>Model availability — not every model ships to GCC day one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8A65"/>
                </a:solidFill>
                <a:latin typeface="Segoe UI"/>
              </a:rPr>
              <a:t>✗  </a:t>
            </a:r>
            <a:r>
              <a:rPr sz="1200">
                <a:solidFill>
                  <a:srgbClr val="E8EBF0"/>
                </a:solidFill>
                <a:latin typeface="Segoe UI"/>
              </a:rPr>
              <a:t>Feature lag — some features arrive months after commercial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8A65"/>
                </a:solidFill>
                <a:latin typeface="Segoe UI"/>
              </a:rPr>
              <a:t>✗  </a:t>
            </a:r>
            <a:r>
              <a:rPr sz="1200">
                <a:solidFill>
                  <a:srgbClr val="E8EBF0"/>
                </a:solidFill>
                <a:latin typeface="Segoe UI"/>
              </a:rPr>
              <a:t>No fine-tuned models, custom RAG, or code-first agents natively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486400" cy="18288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8E5C2"/>
                </a:solidFill>
                <a:latin typeface="Segoe UI"/>
              </a:defRPr>
            </a:pPr>
            <a:r>
              <a:t>✅  Azure AI Foundry (Commercial)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48E5C2"/>
                </a:solidFill>
                <a:latin typeface="Segoe UI"/>
              </a:rPr>
              <a:t>✓  </a:t>
            </a:r>
            <a:r>
              <a:rPr sz="1200">
                <a:solidFill>
                  <a:srgbClr val="E8EBF0"/>
                </a:solidFill>
                <a:latin typeface="Segoe UI"/>
              </a:rPr>
              <a:t>Custom models (fine-tuned, domain-specific)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48E5C2"/>
                </a:solidFill>
                <a:latin typeface="Segoe UI"/>
              </a:rPr>
              <a:t>✓  </a:t>
            </a:r>
            <a:r>
              <a:rPr sz="1200">
                <a:solidFill>
                  <a:srgbClr val="E8EBF0"/>
                </a:solidFill>
                <a:latin typeface="Segoe UI"/>
              </a:rPr>
              <a:t>Advanced RAG with custom vector indexes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48E5C2"/>
                </a:solidFill>
                <a:latin typeface="Segoe UI"/>
              </a:rPr>
              <a:t>✓  </a:t>
            </a:r>
            <a:r>
              <a:rPr sz="1200">
                <a:solidFill>
                  <a:srgbClr val="E8EBF0"/>
                </a:solidFill>
                <a:latin typeface="Segoe UI"/>
              </a:rPr>
              <a:t>Multi-model orchestration &amp; code-first agents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48E5C2"/>
                </a:solidFill>
                <a:latin typeface="Segoe UI"/>
              </a:rPr>
              <a:t>✓  </a:t>
            </a:r>
            <a:r>
              <a:rPr sz="1200">
                <a:solidFill>
                  <a:srgbClr val="E8EBF0"/>
                </a:solidFill>
                <a:latin typeface="Segoe UI"/>
              </a:rPr>
              <a:t>Access GPT-4.1 and latest models immediately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11155680" cy="292608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Segoe UI"/>
              </a:defRPr>
            </a:pPr>
            <a:r>
              <a:t>Cross-Cloud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749039"/>
            <a:ext cx="5029200" cy="210312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FF8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94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A65"/>
                </a:solidFill>
                <a:latin typeface="Segoe UI"/>
              </a:defRPr>
            </a:pPr>
            <a:r>
              <a:t>GCC (Moderate) Boundary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4114800"/>
            <a:ext cx="2011680" cy="54864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133087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👤  User in Teams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251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A9EB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114800"/>
            <a:ext cx="2103120" cy="54864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FF6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4133087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6B95"/>
                </a:solidFill>
                <a:latin typeface="Segoe UI"/>
              </a:defRPr>
            </a:pPr>
            <a:r>
              <a:t>🤖  Copilot Studio</a:t>
            </a:r>
            <a:br/>
            <a:r>
              <a:t>Agent (GCC)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8A65"/>
                </a:solidFill>
                <a:latin typeface="Segoe UI"/>
              </a:defRPr>
            </a:pPr>
            <a:r>
              <a:t>HTTP Action / Power Automate 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A9EB4"/>
                </a:solidFill>
                <a:latin typeface="Segoe UI"/>
              </a:defRPr>
            </a:pPr>
            <a:r>
              <a:t>(outbound to Azure Commercial)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749039"/>
            <a:ext cx="5029200" cy="210312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794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Segoe UI"/>
              </a:defRPr>
            </a:pPr>
            <a:r>
              <a:t>Azure Commercial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4114800"/>
            <a:ext cx="4480560" cy="45720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4160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Segoe UI"/>
              </a:defRPr>
            </a:pPr>
            <a:r>
              <a:t>🧠  AI Foundry 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4663440"/>
            <a:ext cx="4480560" cy="45720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47091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Segoe UI"/>
              </a:defRPr>
            </a:pPr>
            <a:r>
              <a:t>🔍  Azure AI Search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5212080"/>
            <a:ext cx="4480560" cy="45720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5257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8E5C2"/>
                </a:solidFill>
                <a:latin typeface="Segoe UI"/>
              </a:defRPr>
            </a:pPr>
            <a:r>
              <a:t>💬  GPT-4.1 / Custom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480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8A6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6309360"/>
            <a:ext cx="11155680" cy="45720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FF8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3276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  <a:latin typeface="Segoe UI"/>
              </a:defRPr>
            </a:pPr>
            <a:r>
              <a:t>🔐  Data leaves GCC when calling Foundry. Ensure ATO covers cross-cloud. Use API keys in env vars. Consider Power Automate for logging.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Integration Patterns — GCC → AI Foundry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4572000" cy="36576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1155680" cy="1737360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54864" cy="17373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43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Segoe UI"/>
              </a:defRPr>
            </a:pPr>
            <a:r>
              <a:t>Pattern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Direct HTTP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170432"/>
            <a:ext cx="2286000" cy="292608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1704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Simple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1554480"/>
            <a:ext cx="10515600" cy="41148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30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5819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E3C8"/>
                </a:solidFill>
                <a:latin typeface="Cascadia Code"/>
              </a:defRPr>
            </a:pPr>
            <a:r>
              <a:t>User → Copilot Studio → HTTP Action → AI Foundry →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0574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0C9A7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Simple and fast to set up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C9A7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Limited error handling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0C9A7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API key in Copilot Studio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71800"/>
            <a:ext cx="11155680" cy="1737360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71800"/>
            <a:ext cx="54864" cy="1737360"/>
          </a:xfrm>
          <a:prstGeom prst="rect">
            <a:avLst/>
          </a:prstGeom>
          <a:solidFill>
            <a:srgbClr val="48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8E5C2"/>
                </a:solidFill>
                <a:latin typeface="Segoe UI"/>
              </a:defRPr>
            </a:pPr>
            <a:r>
              <a:t>Pattern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Power Automate Intermediary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044952"/>
            <a:ext cx="2286000" cy="292608"/>
          </a:xfrm>
          <a:prstGeom prst="roundRect">
            <a:avLst/>
          </a:prstGeom>
          <a:solidFill>
            <a:srgbClr val="48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30449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Recommended 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429000"/>
            <a:ext cx="10515600" cy="41148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30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564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E3C8"/>
                </a:solidFill>
                <a:latin typeface="Cascadia Code"/>
              </a:defRPr>
            </a:pPr>
            <a:r>
              <a:t>User → Copilot Studio → Power Automate → AI Foundry →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319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48E5C2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Better error handling, logging, retry logic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48E5C2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Secret management via Key Vault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48E5C2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Best balance of control &amp; simplicity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46320"/>
            <a:ext cx="11155680" cy="1737360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846320"/>
            <a:ext cx="54864" cy="1737360"/>
          </a:xfrm>
          <a:prstGeom prst="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A65"/>
                </a:solidFill>
                <a:latin typeface="Segoe UI"/>
              </a:defRPr>
            </a:pPr>
            <a:r>
              <a:t>Pattern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892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API Management Gateway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4919472"/>
            <a:ext cx="2286000" cy="292608"/>
          </a:xfrm>
          <a:prstGeom prst="round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49194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Enterprise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303520"/>
            <a:ext cx="10515600" cy="411480"/>
          </a:xfrm>
          <a:prstGeom prst="roundRect">
            <a:avLst/>
          </a:prstGeom>
          <a:solidFill>
            <a:srgbClr val="101220"/>
          </a:solidFill>
          <a:ln w="19050">
            <a:solidFill>
              <a:srgbClr val="30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3309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E3C8"/>
                </a:solidFill>
                <a:latin typeface="Cascadia Code"/>
              </a:defRPr>
            </a:pPr>
            <a:r>
              <a:t>User → Copilot Studio → APIM (GCC) → AI Foundry →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064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F8A65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Rate limiting, caching, monitoring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8A65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Policy enforcement &amp; analytics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8A65"/>
                </a:solidFill>
                <a:latin typeface="Segoe UI"/>
              </a:rPr>
              <a:t>▸  </a:t>
            </a:r>
            <a:r>
              <a:rPr sz="1200">
                <a:solidFill>
                  <a:srgbClr val="E8EBF0"/>
                </a:solidFill>
                <a:latin typeface="Segoe UI"/>
              </a:rPr>
              <a:t>Requires APIM infrastructure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What We Covered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3200400" cy="36576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1155680" cy="640080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54864" cy="6400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170432"/>
            <a:ext cx="457200" cy="34747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43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Segoe UI"/>
              </a:defRPr>
            </a:pPr>
            <a:r>
              <a:t>Copilot Studio is the user interface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41731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EB4"/>
                </a:solidFill>
                <a:latin typeface="Segoe UI"/>
              </a:defRPr>
            </a:pPr>
            <a:r>
              <a:t>Conversations, channels (Teams, Web), basic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10512"/>
            <a:ext cx="11155680" cy="640080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810512"/>
            <a:ext cx="54864" cy="640080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1883664"/>
            <a:ext cx="457200" cy="347472"/>
          </a:xfrm>
          <a:prstGeom prst="round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85623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95"/>
                </a:solidFill>
                <a:latin typeface="Segoe UI"/>
              </a:defRPr>
            </a:pPr>
            <a:r>
              <a:t>Knowledge + generative answers = instant Q&amp;A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1305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EB4"/>
                </a:solidFill>
                <a:latin typeface="Segoe UI"/>
              </a:defRPr>
            </a:pPr>
            <a:r>
              <a:t>No code — just add content 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523744"/>
            <a:ext cx="11155680" cy="640080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523744"/>
            <a:ext cx="54864" cy="640080"/>
          </a:xfrm>
          <a:prstGeom prst="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2596896"/>
            <a:ext cx="457200" cy="347472"/>
          </a:xfrm>
          <a:prstGeom prst="round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56946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A65"/>
                </a:solidFill>
                <a:latin typeface="Segoe UI"/>
              </a:defRPr>
            </a:pPr>
            <a:r>
              <a:t>Topics give precise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8437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EB4"/>
                </a:solidFill>
                <a:latin typeface="Segoe UI"/>
              </a:defRPr>
            </a:pPr>
            <a:r>
              <a:t>Structured flows when you need branching logic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236976"/>
            <a:ext cx="11155680" cy="640080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236976"/>
            <a:ext cx="54864" cy="640080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3310128"/>
            <a:ext cx="457200" cy="347472"/>
          </a:xfrm>
          <a:prstGeom prst="round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2826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5ACD"/>
                </a:solidFill>
                <a:latin typeface="Segoe UI"/>
              </a:defRPr>
            </a:pPr>
            <a:r>
              <a:t>Tools make agents actionable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557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EB4"/>
                </a:solidFill>
                <a:latin typeface="Segoe UI"/>
              </a:defRPr>
            </a:pPr>
            <a:r>
              <a:t>Agent Flows (no Premium!), connectors, HTTP, MCP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950208"/>
            <a:ext cx="11155680" cy="640080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950208"/>
            <a:ext cx="54864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4023360"/>
            <a:ext cx="45720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9959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Segoe UI"/>
              </a:defRPr>
            </a:pPr>
            <a:r>
              <a:t>Child agents enable modular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270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EB4"/>
                </a:solidFill>
                <a:latin typeface="Segoe UI"/>
              </a:defRPr>
            </a:pPr>
            <a:r>
              <a:t>Specialist agents under a parent — like a call center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663440"/>
            <a:ext cx="11155680" cy="640080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663440"/>
            <a:ext cx="54864" cy="640080"/>
          </a:xfrm>
          <a:prstGeom prst="rect">
            <a:avLst/>
          </a:prstGeom>
          <a:solidFill>
            <a:srgbClr val="48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7240" y="4736592"/>
            <a:ext cx="457200" cy="347472"/>
          </a:xfrm>
          <a:prstGeom prst="roundRect">
            <a:avLst/>
          </a:prstGeom>
          <a:solidFill>
            <a:srgbClr val="48E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8E5C2"/>
                </a:solidFill>
                <a:latin typeface="Segoe UI"/>
              </a:defRPr>
            </a:pPr>
            <a:r>
              <a:t>AI Foundry extends GCC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983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EB4"/>
                </a:solidFill>
                <a:latin typeface="Segoe UI"/>
              </a:defRPr>
            </a:pPr>
            <a:r>
              <a:t>Custom models, advanced RAG, code-first agents via cross-cloud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376672"/>
            <a:ext cx="11155680" cy="640080"/>
          </a:xfrm>
          <a:prstGeom prst="round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376672"/>
            <a:ext cx="54864" cy="640080"/>
          </a:xfrm>
          <a:prstGeom prst="rect">
            <a:avLst/>
          </a:prstGeom>
          <a:solidFill>
            <a:srgbClr val="F06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77240" y="5449824"/>
            <a:ext cx="457200" cy="347472"/>
          </a:xfrm>
          <a:prstGeom prst="roundRect">
            <a:avLst/>
          </a:prstGeom>
          <a:solidFill>
            <a:srgbClr val="F06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422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6ECD"/>
                </a:solidFill>
                <a:latin typeface="Segoe UI"/>
              </a:defRPr>
            </a:pPr>
            <a:r>
              <a:t>GCC works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6967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EB4"/>
                </a:solidFill>
                <a:latin typeface="Segoe UI"/>
              </a:defRPr>
            </a:pPr>
            <a:r>
              <a:t>Full platform in GCC Moderate with cross-cloud considerations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4063898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6793992"/>
            <a:ext cx="4063898" cy="64008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6" y="6793992"/>
            <a:ext cx="4063898" cy="64008"/>
          </a:xfrm>
          <a:prstGeom prst="rect">
            <a:avLst/>
          </a:prstGeom>
          <a:solidFill>
            <a:srgbClr val="E0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Next Steps &amp; Resources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868680"/>
            <a:ext cx="3200400" cy="36576"/>
          </a:xfrm>
          <a:prstGeom prst="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188720"/>
            <a:ext cx="5486400" cy="22860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Segoe UI"/>
              </a:defRPr>
            </a:pPr>
            <a:r>
              <a:t>What's Coming Next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627632"/>
            <a:ext cx="5029200" cy="18288"/>
          </a:xfrm>
          <a:prstGeom prst="rect">
            <a:avLst/>
          </a:prstGeom>
          <a:solidFill>
            <a:srgbClr val="30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1737360"/>
            <a:ext cx="4846320" cy="73152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7556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Segoe UI"/>
              </a:defRPr>
            </a:pPr>
            <a:r>
              <a:t>Session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755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Microsoft AI Foundry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EB4"/>
                </a:solidFill>
                <a:latin typeface="Segoe UI"/>
              </a:defRPr>
            </a:pPr>
            <a:r>
              <a:t>Deploy models, build agents with code,</a:t>
            </a:r>
            <a:br/>
            <a:r>
              <a:t>evaluation pipelines, Foundry as brain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560320"/>
            <a:ext cx="4846320" cy="73152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5786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8E5C2"/>
                </a:solidFill>
                <a:latin typeface="Segoe UI"/>
              </a:defRPr>
            </a:pPr>
            <a:r>
              <a:t>Session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5786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AI Use Case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9EB4"/>
                </a:solidFill>
                <a:latin typeface="Segoe UI"/>
              </a:defRPr>
            </a:pPr>
            <a:r>
              <a:t>Hands-on ideation, rapid prototyping</a:t>
            </a:r>
            <a:br/>
            <a:r>
              <a:t>with GitHub Copilot, idea → prototype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188720"/>
            <a:ext cx="5394960" cy="22860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FF8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A65"/>
                </a:solidFill>
                <a:latin typeface="Segoe UI"/>
              </a:defRPr>
            </a:pPr>
            <a:r>
              <a:t>Resources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627632"/>
            <a:ext cx="4846320" cy="18288"/>
          </a:xfrm>
          <a:prstGeom prst="rect">
            <a:avLst/>
          </a:prstGeom>
          <a:solidFill>
            <a:srgbClr val="30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719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BF0"/>
                </a:solidFill>
                <a:latin typeface="Segoe UI"/>
              </a:defRPr>
            </a:pPr>
            <a:r>
              <a:t>GCC Portal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17190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E3C8"/>
                </a:solidFill>
                <a:latin typeface="Segoe UI"/>
              </a:defRPr>
            </a:pPr>
            <a:r>
              <a:t>gcc.powerva.microsoft.us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0391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BF0"/>
                </a:solidFill>
                <a:latin typeface="Segoe UI"/>
              </a:defRPr>
            </a:pPr>
            <a:r>
              <a:t>Documentation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0391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E3C8"/>
                </a:solidFill>
                <a:latin typeface="Segoe UI"/>
              </a:defRPr>
            </a:pPr>
            <a:r>
              <a:t>learn.microsoft.com/microsoft-copilot-studio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3591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BF0"/>
                </a:solidFill>
                <a:latin typeface="Segoe UI"/>
              </a:defRPr>
            </a:pPr>
            <a:r>
              <a:t>GCC Requirements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23591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E3C8"/>
                </a:solidFill>
                <a:latin typeface="Segoe UI"/>
              </a:defRPr>
            </a:pPr>
            <a:r>
              <a:t>learn.microsoft.com/.../requirements-licensing-gcc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67919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BF0"/>
                </a:solidFill>
                <a:latin typeface="Segoe UI"/>
              </a:defRPr>
            </a:pPr>
            <a:r>
              <a:t>AI Foundry Portal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679191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E3C8"/>
                </a:solidFill>
                <a:latin typeface="Segoe UI"/>
              </a:defRPr>
            </a:pPr>
            <a:r>
              <a:t>ai.azure.com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9992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BF0"/>
                </a:solidFill>
                <a:latin typeface="Segoe UI"/>
              </a:defRPr>
            </a:pPr>
            <a:r>
              <a:t>Release Notes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9992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E3C8"/>
                </a:solidFill>
                <a:latin typeface="Segoe UI"/>
              </a:defRPr>
            </a:pPr>
            <a:r>
              <a:t>learn.microsoft.com/.../fundamentals-whats-new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749039"/>
            <a:ext cx="11155680" cy="2286000"/>
          </a:xfrm>
          <a:prstGeom prst="roundRect">
            <a:avLst/>
          </a:prstGeom>
          <a:solidFill>
            <a:srgbClr val="141728"/>
          </a:solidFill>
          <a:ln w="19050">
            <a:solidFill>
              <a:srgbClr val="FF6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95"/>
                </a:solidFill>
                <a:latin typeface="Segoe UI"/>
              </a:defRPr>
            </a:pPr>
            <a:r>
              <a:t>📝  Optional Homework (Before Session 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187952"/>
            <a:ext cx="10515600" cy="18288"/>
          </a:xfrm>
          <a:prstGeom prst="rect">
            <a:avLst/>
          </a:prstGeom>
          <a:solidFill>
            <a:srgbClr val="30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2960" y="4315968"/>
            <a:ext cx="457200" cy="347472"/>
          </a:xfrm>
          <a:prstGeom prst="round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4297680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Segoe UI"/>
              </a:defRPr>
            </a:pPr>
            <a:r>
              <a:t>Build an agent for a real use case in your team (even a small one!)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645152"/>
            <a:ext cx="457200" cy="347472"/>
          </a:xfrm>
          <a:prstGeom prst="round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4626864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Segoe UI"/>
              </a:defRPr>
            </a:pPr>
            <a:r>
              <a:t>Add 2–3 knowledge sources (SharePoint sites, documentation URLs)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4974336"/>
            <a:ext cx="457200" cy="347472"/>
          </a:xfrm>
          <a:prstGeom prst="round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495604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Segoe UI"/>
              </a:defRPr>
            </a:pPr>
            <a:r>
              <a:t>Create a custom topic with at least one question node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5303520"/>
            <a:ext cx="457200" cy="347472"/>
          </a:xfrm>
          <a:prstGeom prst="round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5285232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Segoe UI"/>
              </a:defRPr>
            </a:pPr>
            <a:r>
              <a:t>Share the agent with a colleague via Teams and get feedback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5632704"/>
            <a:ext cx="457200" cy="347472"/>
          </a:xfrm>
          <a:prstGeom prst="roundRect">
            <a:avLst/>
          </a:prstGeom>
          <a:solidFill>
            <a:srgbClr val="FF6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20" y="5614416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  <a:latin typeface="Segoe UI"/>
              </a:defRPr>
            </a:pPr>
            <a:r>
              <a:t>Write down 3 questions you encountered — bring them to Session 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217920"/>
            <a:ext cx="11155680" cy="457200"/>
          </a:xfrm>
          <a:prstGeom prst="roundRect">
            <a:avLst/>
          </a:prstGeom>
          <a:solidFill>
            <a:srgbClr val="1C1F32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62362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🙋  Q&amp;A — Open the floor for questions!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