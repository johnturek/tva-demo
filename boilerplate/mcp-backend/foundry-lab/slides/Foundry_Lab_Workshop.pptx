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6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64008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64008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6095390" cy="64008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5390" y="6793992"/>
            <a:ext cx="6096304" cy="64008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E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24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Segoe UI Semibold"/>
              </a:defRPr>
            </a:pPr>
            <a:r>
              <a:t>AZURE AI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 Light"/>
              </a:defRPr>
            </a:pPr>
            <a:r>
              <a:t>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108960"/>
            <a:ext cx="3657600" cy="4572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0F0"/>
                </a:solidFill>
                <a:latin typeface="Segoe UI"/>
              </a:defRPr>
            </a:pPr>
            <a:r>
              <a:rPr dirty="0"/>
              <a:t>Hands-on Foundry Labs for TVA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A096B4"/>
                </a:solidFill>
                <a:latin typeface="Segoe UI"/>
              </a:defRPr>
            </a:pPr>
            <a:r>
              <a:t>Foundry SDK v2.0  •  Responses API  •  Agent Framework 1.0 GA</a:t>
            </a:r>
          </a:p>
          <a:p>
            <a:pPr>
              <a:spcAft>
                <a:spcPts val="400"/>
              </a:spcAft>
              <a:defRPr sz="1700">
                <a:solidFill>
                  <a:srgbClr val="A096B4"/>
                </a:solidFill>
                <a:latin typeface="Segoe UI"/>
              </a:defRPr>
            </a:pPr>
            <a:r>
              <a:t>Multi-Agent Architectures  •  RAG with Azure AI Search</a:t>
            </a:r>
          </a:p>
          <a:p>
            <a:pPr>
              <a:spcAft>
                <a:spcPts val="400"/>
              </a:spcAft>
              <a:defRPr sz="1700">
                <a:solidFill>
                  <a:srgbClr val="A096B4"/>
                </a:solidFill>
                <a:latin typeface="Segoe UI"/>
              </a:defRPr>
            </a:pPr>
            <a:r>
              <a:t>Foundry IQ  •  Production Deployment with OBO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5303520"/>
            <a:ext cx="3017520" cy="347472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532180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Foundry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5321807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FA7B"/>
                </a:solidFill>
                <a:latin typeface="Segoe UI"/>
              </a:defRPr>
            </a:pPr>
            <a:r>
              <a:t>v2.0 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715000"/>
            <a:ext cx="3017520" cy="347472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57332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Agent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73328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FA7B"/>
                </a:solidFill>
                <a:latin typeface="Segoe UI"/>
              </a:defRPr>
            </a:pPr>
            <a:r>
              <a:t>v1.0 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6126480"/>
            <a:ext cx="3017520" cy="347472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6144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Agent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144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FA7B"/>
                </a:solidFill>
                <a:latin typeface="Segoe UI"/>
              </a:defRPr>
            </a:pPr>
            <a:r>
              <a:t>v2 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155680" cy="411480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Segoe UI"/>
              </a:defRPr>
            </a:pPr>
            <a:r>
              <a:t>Azure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754880" cy="310896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🧠  AI Foundry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Microsoft.CognitiveServices/accounts  (AIServices)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651760"/>
            <a:ext cx="4023360" cy="201168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C6"/>
                </a:solidFill>
                <a:latin typeface="Segoe UI"/>
              </a:defRPr>
            </a:pPr>
            <a:r>
              <a:t>Foundry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gpt-4.1 model deployment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text-embedding-3-large deployment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Agent definitions &amp; evaluations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Managed Identity enabled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5303520" cy="310896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6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D4F0"/>
                </a:solidFill>
                <a:latin typeface="Segoe UI"/>
              </a:defRPr>
            </a:pPr>
            <a:r>
              <a:t>🔍  Azure AI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Microsoft.Search/searchServices  (basic SKU)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Hybrid retrieval: Vector + BM25 keyword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Semantic ranking (deep learning reranker)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Foundry IQ knowledge layer integration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TVA docs: NERC, dam safety, vegetation,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cold weather ops, renewable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577840"/>
            <a:ext cx="7589520" cy="640080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F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5623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6C"/>
                </a:solidFill>
                <a:latin typeface="Segoe UI"/>
              </a:defRPr>
            </a:pPr>
            <a:r>
              <a:t>Foundry SDK v2.0  (azure-ai-projects ≥ 2.0)  →  Labs 01 –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201168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B59F7"/>
                </a:solidFill>
                <a:latin typeface="Segoe U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Prompts &amp;</a:t>
            </a:r>
            <a:br/>
            <a:r>
              <a:t>Completions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824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20824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Segoe UI"/>
              </a:defRPr>
            </a:pPr>
            <a:r>
              <a:t>Lab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4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Responses</a:t>
            </a:r>
            <a:br/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5AA0"/>
                </a:solidFill>
                <a:latin typeface="Segoe UI"/>
              </a:defRPr>
            </a:pPr>
            <a:r>
              <a:t>Lab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8072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48072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86C"/>
                </a:solidFill>
                <a:latin typeface="Segoe UI"/>
              </a:defRPr>
            </a:pPr>
            <a:r>
              <a:t>Lab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Multi-Agent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6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11696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6D4F0"/>
                </a:solidFill>
                <a:latin typeface="Segoe UI"/>
              </a:defRPr>
            </a:pPr>
            <a:r>
              <a:t>Lab 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0FA7B"/>
                </a:solidFill>
                <a:latin typeface="Segoe UI"/>
              </a:defRPr>
            </a:pPr>
            <a:r>
              <a:t>Lab 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Foundry</a:t>
            </a:r>
            <a:br/>
            <a:r>
              <a:t>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4" y="1691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2E5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188720"/>
            <a:ext cx="1444752" cy="15544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38944" y="129844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Segoe UI"/>
              </a:defRPr>
            </a:pPr>
            <a:r>
              <a:t>Lab 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173736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Agent API</a:t>
            </a:r>
            <a:br/>
            <a:r>
              <a:t>Deploy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017520"/>
            <a:ext cx="11064240" cy="822960"/>
          </a:xfrm>
          <a:prstGeom prst="round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3017520"/>
            <a:ext cx="54864" cy="82296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F7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30632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Labs 01–02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33832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Chat completions, system prompts, temperature, streaming, Responses API, structured JSON output, web search, multi-turn chaining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931920"/>
            <a:ext cx="11064240" cy="822960"/>
          </a:xfrm>
          <a:prstGeom prst="round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AA0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Labs 03–04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Agent lifecycle, Code Interpreter, function calling, YAML Agent-as-Code → Foundry Agent Service v2, multi-agent patterns (sequential pipeline, fan-out, supervisor/worker, critic loop)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846320"/>
            <a:ext cx="11064240" cy="822960"/>
          </a:xfrm>
          <a:prstGeom prst="round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48640" y="4846320"/>
            <a:ext cx="54864" cy="82296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D4F0"/>
                </a:solidFill>
                <a:latin typeface="Segoe UI"/>
              </a:defRPr>
            </a:pPr>
            <a:r>
              <a:t>Knowledge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Labs 05–06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Full RAG pipeline (index → embed → ingest → hybrid search → grounded generation), Foundry IQ agentic retrieval, multi-hop reasoning, naive RAG vs agentic comparison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760720"/>
            <a:ext cx="11064240" cy="822960"/>
          </a:xfrm>
          <a:prstGeom prst="round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48640" y="576072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Lab 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FastAPI REST API wrapping hosted agents, OBO authentication (MSAL), SSE streaming, Container Apps deployment, Copilot Studio custom connector via OpenAPI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Prerequisites &amp; Quick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36576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29260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Segoe UI"/>
              </a:defRPr>
            </a:pPr>
            <a:r>
              <a:t>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05AA0"/>
                </a:solidFill>
                <a:latin typeface="Segoe UI"/>
              </a:rPr>
              <a:t>▸  </a:t>
            </a:r>
            <a:r>
              <a:rPr sz="1400">
                <a:solidFill>
                  <a:srgbClr val="E8E0F0"/>
                </a:solidFill>
                <a:latin typeface="Segoe UI"/>
              </a:rPr>
              <a:t>Azure subscription with resource creation permissions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05AA0"/>
                </a:solidFill>
                <a:latin typeface="Segoe UI"/>
              </a:rPr>
              <a:t>▸  </a:t>
            </a:r>
            <a:r>
              <a:rPr sz="1400">
                <a:solidFill>
                  <a:srgbClr val="E8E0F0"/>
                </a:solidFill>
                <a:latin typeface="Segoe UI"/>
              </a:rPr>
              <a:t>Azure CLI 2.80+  (az --version)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05AA0"/>
                </a:solidFill>
                <a:latin typeface="Segoe UI"/>
              </a:rPr>
              <a:t>▸  </a:t>
            </a:r>
            <a:r>
              <a:rPr sz="1400">
                <a:solidFill>
                  <a:srgbClr val="E8E0F0"/>
                </a:solidFill>
                <a:latin typeface="Segoe UI"/>
              </a:rPr>
              <a:t>PowerShell 7+  (pwsh)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05AA0"/>
                </a:solidFill>
                <a:latin typeface="Segoe UI"/>
              </a:rPr>
              <a:t>▸  </a:t>
            </a:r>
            <a:r>
              <a:rPr sz="1400">
                <a:solidFill>
                  <a:srgbClr val="E8E0F0"/>
                </a:solidFill>
                <a:latin typeface="Segoe UI"/>
              </a:rPr>
              <a:t>Python 3.9+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05AA0"/>
                </a:solidFill>
                <a:latin typeface="Segoe UI"/>
              </a:rPr>
              <a:t>▸  </a:t>
            </a:r>
            <a:r>
              <a:rPr sz="1400">
                <a:solidFill>
                  <a:srgbClr val="E8E0F0"/>
                </a:solidFill>
                <a:latin typeface="Segoe UI"/>
              </a:rPr>
              <a:t>az login authenticated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9260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FA7B"/>
                </a:solidFill>
                <a:latin typeface="Segoe UI"/>
              </a:defRPr>
            </a:pPr>
            <a:r>
              <a:t>Quick 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37360"/>
            <a:ext cx="4937760" cy="219456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572000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1. Deploy infrastructure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cd foundry-lab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.\deploy.ps1 -Prefix "foundry-lab" -Location "eastus2"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2. Configure environment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cp </a:t>
            </a:r>
            <a:r>
              <a:rPr sz="900" dirty="0" err="1"/>
              <a:t>example.env</a:t>
            </a:r>
            <a:r>
              <a:rPr sz="900" dirty="0"/>
              <a:t> .env   # paste deploy output values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3. Install dependencies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pip install -r requirements.txt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4. Run a lab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python labs/lab01-.../lab01_completions.py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155680" cy="228600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Segoe UI"/>
              </a:defRPr>
            </a:pPr>
            <a:r>
              <a:t>SDK &amp; Framework 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C6"/>
                </a:solidFill>
                <a:latin typeface="Segoe UI"/>
              </a:defRPr>
            </a:pPr>
            <a: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C6"/>
                </a:solidFill>
                <a:latin typeface="Segoe UI"/>
              </a:defRPr>
            </a:pPr>
            <a:r>
              <a:t>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C6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66360"/>
            <a:ext cx="10241280" cy="182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Azure AI Foundry SDK (azure-ai-projects)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2578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≥ 2.0.0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257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FA7B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Microsoft Agent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5138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513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FA7B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Azure AI Foundry Agent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769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769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FA7B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25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Foundry 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60258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025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86C"/>
                </a:solidFill>
                <a:latin typeface="Segoe UI"/>
              </a:defRPr>
            </a:pPr>
            <a:r>
              <a:t>Public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281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Azure AI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6281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2024-06-01-preview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281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FA7B"/>
                </a:solidFill>
                <a:latin typeface="Segoe UI"/>
              </a:defRPr>
            </a:pPr>
            <a:r>
              <a:t>GA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01 — Prompts &amp; Completions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4114800" cy="36576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Foundation of the Foundry SDK — every AI application starts with chat completions. Master prompts, roles, parameters, and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Basic Chat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Send a message, get a response — the foundation of all LLM interaction.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305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Chat Completions API • message roles (user) • model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58775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System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Steer model behavior with system prompts — TVA personas: grid operator, environmental analyst.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06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System role injection • persona-based instructions • behavioral guardrails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54787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Temperature &amp; Sampling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9475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Control randomness vs. determinism for load forecasting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5079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Temperature (0–2) • top_p nucleus sampling • max_tokens limits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54864" cy="86868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50799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Streaming Completion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54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Deliver tokens in real-time — essential for responsive UIs.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10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stream=True • async chunk iteration • token-by-token display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54864" cy="86868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520" y="546811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Multi-Turn Conversation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715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Build a demand response dialogue by accumulating message history.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9710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Conversation history array • role-based message accumulation • context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Authentication Pattern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20240"/>
            <a:ext cx="5303520" cy="164592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2057400"/>
            <a:ext cx="4937759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from </a:t>
            </a:r>
            <a:r>
              <a:rPr sz="1000" dirty="0" err="1"/>
              <a:t>azure.identity</a:t>
            </a:r>
            <a:r>
              <a:rPr sz="1000" dirty="0"/>
              <a:t> import </a:t>
            </a:r>
            <a:r>
              <a:rPr sz="1000" dirty="0" err="1"/>
              <a:t>DefaultAzureCredential</a:t>
            </a: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from </a:t>
            </a:r>
            <a:r>
              <a:rPr sz="1000" dirty="0" err="1"/>
              <a:t>azure.ai.projects</a:t>
            </a:r>
            <a:r>
              <a:rPr sz="1000" dirty="0"/>
              <a:t> import </a:t>
            </a:r>
            <a:r>
              <a:rPr sz="1000" dirty="0" err="1"/>
              <a:t>AIProjectClient</a:t>
            </a: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client = </a:t>
            </a:r>
            <a:r>
              <a:rPr sz="1000" dirty="0" err="1"/>
              <a:t>AIProjectClient</a:t>
            </a:r>
            <a:r>
              <a:rPr sz="1000" dirty="0"/>
              <a:t>(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  endpoint=</a:t>
            </a:r>
            <a:r>
              <a:rPr sz="1000" dirty="0" err="1"/>
              <a:t>os.environ</a:t>
            </a:r>
            <a:r>
              <a:rPr sz="1000" dirty="0"/>
              <a:t>["PROJECT_ENDPOINT"],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  credential=</a:t>
            </a:r>
            <a:r>
              <a:rPr sz="1000" dirty="0" err="1"/>
              <a:t>DefaultAzureCredential</a:t>
            </a:r>
            <a:r>
              <a:rPr sz="1000" dirty="0"/>
              <a:t>(),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 err="1"/>
              <a:t>openai</a:t>
            </a:r>
            <a:r>
              <a:rPr sz="1000" dirty="0"/>
              <a:t> = </a:t>
            </a:r>
            <a:r>
              <a:rPr sz="1000" dirty="0" err="1"/>
              <a:t>client.get_openai_client</a:t>
            </a:r>
            <a:r>
              <a:rPr sz="1000" dirty="0"/>
              <a:t>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Chat Completion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114800"/>
            <a:ext cx="5303520" cy="201168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4251960"/>
            <a:ext cx="49377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response = openai.chat.completions.create(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model=MODEL,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messages=[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    {"role": "system", "content": persona},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    {"role": "user",   "content": prompt},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temperature=0.3,  # deterministic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stream=True,      # real-time tokens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02 — Responses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The next-generation API: stateless, built-in tools, structured output, and chained multi-turn via previous_response_id.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457200" cy="347472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Basic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responses.create() — simpler, more powerful replacement for completions.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305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Responses API endpoint • input parameter • output_text accessor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587752"/>
            <a:ext cx="457200" cy="347472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Structured Output (JSON Schema)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Force the model to return valid JSON — TVA generation assets inventory.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06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JSON schema enforcement • text.format parameter • guaranteed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547872"/>
            <a:ext cx="457200" cy="347472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Built-in Web Search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9475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Ground answers in live data — FERC regulation lookup.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5079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web_search_preview tool • tool_choice • real-time grounding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507992"/>
            <a:ext cx="457200" cy="347472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Multi-Turn Chaining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54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Stateless multi-turn via previous_response_id — intra-hour load forecasting.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10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previous_response_id • server-side state • conversation continuity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520" y="5468112"/>
            <a:ext cx="457200" cy="347472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Streaming Responses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715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Stream response events for real-time UI — event iteration pattern.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9710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Streaming event iterator • partial responses • token 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Responses API Pattern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20240"/>
            <a:ext cx="5303520" cy="137160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205740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response = openai.responses.create(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model="gpt-4.1",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    input="Explain RAG in 2 sentences.",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t>print(response.output_text)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Structured JSON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840479"/>
            <a:ext cx="5303520" cy="2173615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977640"/>
            <a:ext cx="4937759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response = </a:t>
            </a:r>
            <a:r>
              <a:rPr sz="900" dirty="0" err="1"/>
              <a:t>openai.responses.create</a:t>
            </a:r>
            <a:r>
              <a:rPr sz="900" dirty="0"/>
              <a:t>(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model=MODEL,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input=prompt,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text={"format": {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"type": "</a:t>
            </a:r>
            <a:r>
              <a:rPr sz="900" dirty="0" err="1"/>
              <a:t>json_schema</a:t>
            </a:r>
            <a:r>
              <a:rPr sz="900" dirty="0"/>
              <a:t>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"name": "</a:t>
            </a:r>
            <a:r>
              <a:rPr sz="900" dirty="0" err="1"/>
              <a:t>tva_generation_assets</a:t>
            </a:r>
            <a:r>
              <a:rPr sz="900" dirty="0"/>
              <a:t>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"schema": {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    "type": "object",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    "properties": { ... }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}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}}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045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Multi-Turn Chaining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320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Pass previous_response_id to chain turns — no message history array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03 —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From stateless completions to autonomous agents — tools, code execution, function calling, and declarative YAML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Basic Agent with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Agent with system instructions using Responses API — the simplest agent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305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instructions parameter • agent behavior shaping • Responses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58775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 with Code Interpreter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Agent writes &amp; executes Python code to analyze TVA load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06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Code Interpreter tool • file upload • sandbox execution • data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54787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 with Tool Calling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9475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Custom functions the agent can invoke — grid status, load forecasting.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5079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Function tool definitions • JSON schema parameters • agentic tool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54864" cy="86868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50799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Streaming Agent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54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Stream agent responses token-by-token with tool call events.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10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Streaming + tools • event types • real-time tool invocation display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54864" cy="86868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520" y="546811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Agent-as-Code: YAML → Agent Service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715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Declarative YAML definition deployed as a hosted, portal-visible agent.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9710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t>YAML agent definition • create_version API • hosted agent • portal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YAML Agent Definition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20240"/>
            <a:ext cx="5303520" cy="201168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2057400"/>
            <a:ext cx="493775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# agents/dam-safety-</a:t>
            </a:r>
            <a:r>
              <a:rPr sz="1000" dirty="0" err="1"/>
              <a:t>inspector.yaml</a:t>
            </a:r>
            <a:endParaRPr sz="1000" dirty="0"/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name: dam-safety-inspector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model: gpt-4.1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instructions: |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You are a TVA Dam Safety Inspector.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Analyze dam conditions, seepage data,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and recommend interventions per FERC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  Part 12 and TVA Dam Safety standards.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 err="1"/>
              <a:t>top_p</a:t>
            </a:r>
            <a:r>
              <a:rPr sz="1000" dirty="0"/>
              <a:t>: 0.9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1000" dirty="0"/>
              <a:t>temperature: 0.2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Deploy to Agent Service v2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80560"/>
            <a:ext cx="5303520" cy="2229878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4617720"/>
            <a:ext cx="4937759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Read YAML → deploy as hosted agent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agent = </a:t>
            </a:r>
            <a:r>
              <a:rPr sz="900" dirty="0" err="1"/>
              <a:t>client.agents.create_version</a:t>
            </a:r>
            <a:r>
              <a:rPr sz="900" dirty="0"/>
              <a:t>(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</a:t>
            </a:r>
            <a:r>
              <a:rPr sz="900" dirty="0" err="1"/>
              <a:t>agent_name</a:t>
            </a:r>
            <a:r>
              <a:rPr sz="900" dirty="0"/>
              <a:t>="dam-safety-inspector",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body={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"definition": {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    "kind": "prompt",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    "model": "gpt-4.1",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    "instructions": </a:t>
            </a:r>
            <a:r>
              <a:rPr sz="900" dirty="0" err="1"/>
              <a:t>yaml_def</a:t>
            </a:r>
            <a:r>
              <a:rPr sz="900" dirty="0"/>
              <a:t>["instructions"],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},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    "description": "TVA Dam Safety Inspector",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},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04 — Multi-Agent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4572000" cy="36576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Five enterprise orchestration patterns — each agent is a stateless Responses API call; orchestration is pure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155680" cy="9601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" cy="960120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457200" cy="347472"/>
          </a:xfrm>
          <a:prstGeom prst="round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F7"/>
                </a:solidFill>
                <a:latin typeface="Segoe UI"/>
              </a:defRPr>
            </a:pPr>
            <a:r>
              <a:t>Sequential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Data Engineer → Forecaster → Dispatcher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10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Linear chain: each agent's output feeds the next. TVA dispatch workflow: ingest → forecast → dispatch.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848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9C6"/>
                </a:solidFill>
                <a:latin typeface="Segoe UI"/>
              </a:defRPr>
            </a:pPr>
            <a:r>
              <a:t>Agent A output → Agent B input → Agent C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11155680" cy="9601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54864" cy="96012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258775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6D4F0"/>
                </a:solidFill>
                <a:latin typeface="Segoe UI"/>
              </a:defRPr>
            </a:pPr>
            <a:r>
              <a:t>Parallel Fan-Out / Fan-In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Environmental + Reliability + Cost analysts → Synthesizer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620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Independent specialist agents analyze in parallel; results merged by a synthesizer agent.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363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9C6"/>
                </a:solidFill>
                <a:latin typeface="Segoe UI"/>
              </a:defRPr>
            </a:pPr>
            <a:r>
              <a:t>3 parallel agents → aggregation → unified recommendation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11155680" cy="9601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3639312"/>
            <a:ext cx="457200" cy="347472"/>
          </a:xfrm>
          <a:prstGeom prst="round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611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AA0"/>
                </a:solidFill>
                <a:latin typeface="Segoe UI"/>
              </a:defRPr>
            </a:pPr>
            <a:r>
              <a:t>Supervisor / 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118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Vegetation Risk Supervisor → Specialist Workers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13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Supervisor decomposes a complex task into sub-tasks, delegates to specialist workers, merges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87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9C6"/>
                </a:solidFill>
                <a:latin typeface="Segoe UI"/>
              </a:defRPr>
            </a:pPr>
            <a:r>
              <a:t>Supervisor plans → Workers execute → Supervisor synthesizes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17720"/>
            <a:ext cx="11155680" cy="9601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617720"/>
            <a:ext cx="54864" cy="960120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4690872"/>
            <a:ext cx="457200" cy="347472"/>
          </a:xfrm>
          <a:prstGeom prst="round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86C"/>
                </a:solidFill>
                <a:latin typeface="Segoe UI"/>
              </a:defRPr>
            </a:pPr>
            <a:r>
              <a:t>Critic / Refinement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663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PI Historian + Critic → Iterative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965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Generator produces output, critic evaluates quality, loop until threshold met or max iterations reached.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23951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9C6"/>
                </a:solidFill>
                <a:latin typeface="Segoe UI"/>
              </a:defRPr>
            </a:pPr>
            <a:r>
              <a:t>Generate → Critique → Refine → Accept/Reject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69279"/>
            <a:ext cx="11155680" cy="9601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669279"/>
            <a:ext cx="54864" cy="96012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5742431"/>
            <a:ext cx="457200" cy="347472"/>
          </a:xfrm>
          <a:prstGeom prst="round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7149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FA7B"/>
                </a:solidFill>
                <a:latin typeface="Segoe UI"/>
              </a:defRPr>
            </a:pPr>
            <a:r>
              <a:t>Foundry Workflow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1499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Server-side orchestrated agent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6016751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Cloud-native orchestration using Foundry's built-in workflow engine with streaming action events.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91071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9C6"/>
                </a:solidFill>
                <a:latin typeface="Segoe UI"/>
              </a:defRPr>
            </a:pPr>
            <a:r>
              <a:t>Declarative workflow → Server-side execution → SSE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05 — RAG with Azure AI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4114800" cy="36576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Build a complete RAG pipeline: index TVA operational documents, embed with text-embedding-3-large, search, and generate grounded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Create Search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Configure a hybrid index with text + vector fields, semantic ranking enabled.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5853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 err="1"/>
              <a:t>SearchIndex</a:t>
            </a:r>
            <a:r>
              <a:rPr sz="900" dirty="0"/>
              <a:t> • </a:t>
            </a:r>
            <a:r>
              <a:rPr sz="900" dirty="0" err="1"/>
              <a:t>SearchableField</a:t>
            </a:r>
            <a:r>
              <a:rPr sz="900" dirty="0"/>
              <a:t> • </a:t>
            </a:r>
            <a:r>
              <a:rPr sz="900" dirty="0" err="1"/>
              <a:t>VectorSearch</a:t>
            </a:r>
            <a:r>
              <a:rPr sz="900" dirty="0"/>
              <a:t> profiles • semantic 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58775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Generate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Generate vector embeddings for TVA document chunks via the Foundry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84452"/>
            <a:ext cx="5491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/>
              <a:t>text-embedding-3-large • 3072-dim vectors • batch embedding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54864" cy="86868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54787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Upload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9475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Index TVA docs: NERC standards, dam safety, vegetation mgmt, cold weather ops.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121712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 err="1"/>
              <a:t>SearchClient.upload_documents</a:t>
            </a:r>
            <a:r>
              <a:rPr sz="900" dirty="0"/>
              <a:t> • vector + metadata • batch upload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54864" cy="86868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50799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Hybrid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54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Combine vector similarity + BM25 keyword + semantic ranking for best results.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100997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 err="1"/>
              <a:t>VectorizedQuery</a:t>
            </a:r>
            <a:r>
              <a:rPr sz="900" dirty="0"/>
              <a:t> • </a:t>
            </a:r>
            <a:r>
              <a:rPr sz="900" dirty="0" err="1"/>
              <a:t>query_type</a:t>
            </a:r>
            <a:r>
              <a:rPr sz="900" dirty="0"/>
              <a:t>='semantic' • hybrid fusion • reranking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5486400" cy="86868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54864" cy="868680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520" y="5468112"/>
            <a:ext cx="457200" cy="347472"/>
          </a:xfrm>
          <a:prstGeom prst="round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RAG: Grounded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715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Inject retrieved docs into prompt → generate grounded, cited answers.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6045484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/>
              <a:t>Context injection • system prompt augmentation • source attribution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RAG Pipeline 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20240"/>
            <a:ext cx="5303520" cy="749808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1993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F7"/>
                </a:solidFill>
                <a:latin typeface="Segoe UI"/>
              </a:defRPr>
            </a:pPr>
            <a:r>
              <a:t>1  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99339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Create hybrid search index</a:t>
            </a:r>
            <a:br/>
            <a:r>
              <a:t>with vector + keyword fields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2E55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788920"/>
            <a:ext cx="5303520" cy="749808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Segoe UI"/>
              </a:defRPr>
            </a:pPr>
            <a:r>
              <a:t>2  EMBED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8620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Generate 3072-dim vectors</a:t>
            </a:r>
            <a:br/>
            <a:r>
              <a:t>with text-embedding-3-large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4728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2E55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657600"/>
            <a:ext cx="5303520" cy="749808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5AA0"/>
                </a:solidFill>
                <a:latin typeface="Segoe UI"/>
              </a:defRPr>
            </a:pPr>
            <a:r>
              <a:t>3  INGEST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73075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Upload TVA operational</a:t>
            </a:r>
            <a:br/>
            <a:r>
              <a:t>documents with embeddings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15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2E55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526279"/>
            <a:ext cx="5303520" cy="749808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6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45994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6D4F0"/>
                </a:solidFill>
                <a:latin typeface="Segoe UI"/>
              </a:defRPr>
            </a:pPr>
            <a:r>
              <a:t>4  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599431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Hybrid retrieval: Vector +</a:t>
            </a:r>
            <a:br/>
            <a:r>
              <a:t>BM25 + semantic reranking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184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2E55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394960"/>
            <a:ext cx="5303520" cy="749808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94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FA7B"/>
                </a:solidFill>
                <a:latin typeface="Segoe UI"/>
              </a:defRPr>
            </a:pPr>
            <a:r>
              <a:t>5  GENERATE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46811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Grounded LLM response</a:t>
            </a:r>
            <a:br/>
            <a:r>
              <a:t>from retrieved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06 — Foundry IQ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Agentic retrieval with multi-hop reasoning — the AI decides what to search, when, and how to synthesize across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005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10058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457200" cy="347472"/>
          </a:xfrm>
          <a:prstGeom prst="round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 with Azure AI Search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01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Connect an agent to Azure AI Search via function calling — the agent decides when and what to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40864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/>
              <a:t>Azure AI Search tool definition • hybrid search function • agent-driven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5486400" cy="1005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54864" cy="10058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724912"/>
            <a:ext cx="457200" cy="347472"/>
          </a:xfrm>
          <a:prstGeom prst="round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974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Agentic Retrieval (Multi-Hop)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99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Agent chains multiple searches autonomously — coal retirement analysis across dam, vegetation, and reliability docs.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77809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/>
              <a:t>Multi-hop reasoning • iterative search refinement • cross-document synthesis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5486400" cy="1005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749039"/>
            <a:ext cx="54864" cy="10058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822191"/>
            <a:ext cx="457200" cy="347472"/>
          </a:xfrm>
          <a:prstGeom prst="round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5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Naive RAG vs. Agentic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9651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Side-by-side comparison: single-shot RAG vs. agent-driven multi-hop. See why agentic retrieval wins on complex queries.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24047"/>
            <a:ext cx="4389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9C6"/>
                </a:solidFill>
                <a:latin typeface="Segoe UI"/>
              </a:defRPr>
            </a:pPr>
            <a:r>
              <a:rPr sz="900" dirty="0"/>
              <a:t>Quality comparison • reasoning depth • context coverage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Naive RAG vs. Foundry IQ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920240"/>
            <a:ext cx="2468880" cy="3291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A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96B4"/>
                </a:solidFill>
                <a:latin typeface="Segoe UI"/>
              </a:defRPr>
            </a:pPr>
            <a:r>
              <a:t>Naive 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31720"/>
            <a:ext cx="2103120" cy="18288"/>
          </a:xfrm>
          <a:prstGeom prst="rect">
            <a:avLst/>
          </a:prstGeom>
          <a:solidFill>
            <a:srgbClr val="A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423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F6B6B"/>
                </a:solidFill>
                <a:latin typeface="Segoe UI"/>
              </a:rPr>
              <a:t>✗  </a:t>
            </a:r>
            <a:r>
              <a:rPr sz="1100">
                <a:solidFill>
                  <a:srgbClr val="E8E0F0"/>
                </a:solidFill>
                <a:latin typeface="Segoe UI"/>
              </a:rPr>
              <a:t>Single query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F6B6B"/>
                </a:solidFill>
                <a:latin typeface="Segoe UI"/>
              </a:rPr>
              <a:t>✗  </a:t>
            </a:r>
            <a:r>
              <a:rPr sz="1100">
                <a:solidFill>
                  <a:srgbClr val="E8E0F0"/>
                </a:solidFill>
                <a:latin typeface="Segoe UI"/>
              </a:rPr>
              <a:t>Fixed retrieval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F6B6B"/>
                </a:solidFill>
                <a:latin typeface="Segoe UI"/>
              </a:rPr>
              <a:t>✗  </a:t>
            </a:r>
            <a:r>
              <a:rPr sz="1100">
                <a:solidFill>
                  <a:srgbClr val="E8E0F0"/>
                </a:solidFill>
                <a:latin typeface="Segoe UI"/>
              </a:rPr>
              <a:t>No reasoning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F6B6B"/>
                </a:solidFill>
                <a:latin typeface="Segoe UI"/>
              </a:rPr>
              <a:t>✗  </a:t>
            </a:r>
            <a:r>
              <a:rPr sz="1100">
                <a:solidFill>
                  <a:srgbClr val="E8E0F0"/>
                </a:solidFill>
                <a:latin typeface="Segoe UI"/>
              </a:rPr>
              <a:t>May miss related
documents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F6B6B"/>
                </a:solidFill>
                <a:latin typeface="Segoe UI"/>
              </a:rPr>
              <a:t>✗  </a:t>
            </a:r>
            <a:r>
              <a:rPr sz="1100">
                <a:solidFill>
                  <a:srgbClr val="E8E0F0"/>
                </a:solidFill>
                <a:latin typeface="Segoe UI"/>
              </a:rPr>
              <a:t>Simple Q&amp;A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920240"/>
            <a:ext cx="2468880" cy="3291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FA7B"/>
                </a:solidFill>
                <a:latin typeface="Segoe UI"/>
              </a:defRPr>
            </a:pPr>
            <a:r>
              <a:t>Foundry 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331720"/>
            <a:ext cx="2103120" cy="18288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423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50FA7B"/>
                </a:solidFill>
                <a:latin typeface="Segoe UI"/>
              </a:rPr>
              <a:t>✓  </a:t>
            </a:r>
            <a:r>
              <a:rPr sz="1100">
                <a:solidFill>
                  <a:srgbClr val="E8E0F0"/>
                </a:solidFill>
                <a:latin typeface="Segoe UI"/>
              </a:rPr>
              <a:t>Multi-hop queries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0FA7B"/>
                </a:solidFill>
                <a:latin typeface="Segoe UI"/>
              </a:rPr>
              <a:t>✓  </a:t>
            </a:r>
            <a:r>
              <a:rPr sz="1100">
                <a:solidFill>
                  <a:srgbClr val="E8E0F0"/>
                </a:solidFill>
                <a:latin typeface="Segoe UI"/>
              </a:rPr>
              <a:t>Agent-driven search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0FA7B"/>
                </a:solidFill>
                <a:latin typeface="Segoe UI"/>
              </a:rPr>
              <a:t>✓  </a:t>
            </a:r>
            <a:r>
              <a:rPr sz="1100">
                <a:solidFill>
                  <a:srgbClr val="E8E0F0"/>
                </a:solidFill>
                <a:latin typeface="Segoe UI"/>
              </a:rPr>
              <a:t>Reasoning chains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0FA7B"/>
                </a:solidFill>
                <a:latin typeface="Segoe UI"/>
              </a:rPr>
              <a:t>✓  </a:t>
            </a:r>
            <a:r>
              <a:rPr sz="1100">
                <a:solidFill>
                  <a:srgbClr val="E8E0F0"/>
                </a:solidFill>
                <a:latin typeface="Segoe UI"/>
              </a:rPr>
              <a:t>Cross-document
synthesis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0FA7B"/>
                </a:solidFill>
                <a:latin typeface="Segoe UI"/>
              </a:rPr>
              <a:t>✓  </a:t>
            </a:r>
            <a:r>
              <a:rPr sz="1100">
                <a:solidFill>
                  <a:srgbClr val="E8E0F0"/>
                </a:solidFill>
                <a:latin typeface="Segoe UI"/>
              </a:rPr>
              <a:t>Complex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46320"/>
            <a:ext cx="11155680" cy="1005840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F0"/>
                </a:solidFill>
                <a:latin typeface="Segoe UI"/>
              </a:defRPr>
            </a:pPr>
            <a:r>
              <a:t>💡  Example: "What happens to grid reliability if TVA retires all coal plants by 2035?" — Foundry IQ chains searches across dam safety, vegetation management, cold weather operations, and reliability standards to synthesize a comprehensive answer. Naive RAG returns fragments from a single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07 — AI Foundry Agent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36576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Production deployment: FastAPI wrapping hosted agents with OBO auth, SSE streaming, and Copilot Studio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17904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904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Connect to Hosted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190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Resolve agent by name, build agent_reference, send a test message via Responses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10903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 err="1"/>
              <a:t>agent_reference</a:t>
            </a:r>
            <a:r>
              <a:rPr sz="800" dirty="0"/>
              <a:t> • </a:t>
            </a:r>
            <a:r>
              <a:rPr sz="800" dirty="0" err="1"/>
              <a:t>responses.create</a:t>
            </a:r>
            <a:r>
              <a:rPr sz="800" dirty="0"/>
              <a:t> with </a:t>
            </a:r>
            <a:r>
              <a:rPr sz="800" dirty="0" err="1"/>
              <a:t>extra_body</a:t>
            </a:r>
            <a:r>
              <a:rPr sz="800" dirty="0"/>
              <a:t> • hosted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67712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322576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951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Build the FastAPI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23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REST API with /chat, /health, /docs — Pydantic models, error handling, OpenAPI spec.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28036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 err="1"/>
              <a:t>FastAPI</a:t>
            </a:r>
            <a:r>
              <a:rPr sz="800" dirty="0"/>
              <a:t> • </a:t>
            </a:r>
            <a:r>
              <a:rPr sz="800" dirty="0" err="1"/>
              <a:t>Pydantic</a:t>
            </a:r>
            <a:r>
              <a:rPr sz="800" dirty="0"/>
              <a:t> request/response • /chat endpoint • automatic /docs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72384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072384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127248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998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Add Streaming (SSE)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3284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Server-Sent Events for real-time agent response delivery.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57016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 err="1"/>
              <a:t>EventSourceResponse</a:t>
            </a:r>
            <a:r>
              <a:rPr sz="800" dirty="0"/>
              <a:t> • </a:t>
            </a:r>
            <a:r>
              <a:rPr sz="800" dirty="0" err="1"/>
              <a:t>sse-starlette</a:t>
            </a:r>
            <a:r>
              <a:rPr sz="800" dirty="0"/>
              <a:t> • token-by-token streaming • /chat/stream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77056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877056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044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OBO 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1330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On-Behalf-Of token flow — caller's identity delegated through to Foundry.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61688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/>
              <a:t>MSAL </a:t>
            </a:r>
            <a:r>
              <a:rPr sz="800" dirty="0" err="1"/>
              <a:t>ConfidentialClientApplication</a:t>
            </a:r>
            <a:r>
              <a:rPr sz="800" dirty="0"/>
              <a:t> • bearer token exchange • Cognitive Services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81728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520" y="4736592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709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Container App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9377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Dockerfile, ACR build, Azure Container Apps with managed identity.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166360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 err="1"/>
              <a:t>Dockerfile</a:t>
            </a:r>
            <a:r>
              <a:rPr sz="800" dirty="0"/>
              <a:t> • ACR • Container Apps • managed identity • env var config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5486400" cy="7315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2E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486400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5541264"/>
            <a:ext cx="45720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5138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Build, Deploy, Test &amp; OpenAPI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7424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6B4"/>
                </a:solidFill>
                <a:latin typeface="Segoe UI"/>
              </a:defRPr>
            </a:pPr>
            <a:r>
              <a:t>Full CI/CD pipeline + Copilot Studio OpenAPI spec export.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971032"/>
            <a:ext cx="4389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79C6"/>
                </a:solidFill>
                <a:latin typeface="Segoe UI"/>
              </a:defRPr>
            </a:pPr>
            <a:r>
              <a:rPr sz="800" dirty="0"/>
              <a:t>End-to-end pipeline • health/chat/stream tests • </a:t>
            </a:r>
            <a:r>
              <a:rPr sz="800" dirty="0" err="1"/>
              <a:t>OpenAPI</a:t>
            </a:r>
            <a:r>
              <a:rPr sz="800" dirty="0"/>
              <a:t> 3.0 spec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Production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1828800"/>
            <a:ext cx="5303520" cy="713232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Segoe UI"/>
              </a:defRPr>
            </a:pPr>
            <a:r>
              <a:t>🗣️  Copilot Studio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176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Custom connector (OpenAPI spec)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651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🔐  OAuth2 + OBO Token Flow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474720"/>
            <a:ext cx="5303520" cy="713232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35204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🚀  Container App (FastAPI)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8221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/chat  •  /chat/stream  •  /health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6B4"/>
                </a:solidFill>
                <a:latin typeface="Segoe UI"/>
              </a:defRPr>
            </a:pPr>
            <a:r>
              <a:t>🔑  Managed Identity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120640"/>
            <a:ext cx="5303520" cy="713232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51663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F7"/>
                </a:solidFill>
                <a:latin typeface="Segoe UI"/>
              </a:defRPr>
            </a:pPr>
            <a:r>
              <a:t>🧠  AI Foundry Agent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4681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F0"/>
                </a:solidFill>
                <a:latin typeface="Segoe UI"/>
              </a:defRPr>
            </a:pPr>
            <a:r>
              <a:t>Hosted agent with tools &amp; knowledge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943600"/>
            <a:ext cx="5303520" cy="640080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F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0" y="5989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0F0"/>
                </a:solidFill>
                <a:latin typeface="Segoe UI"/>
              </a:defRPr>
            </a:pPr>
            <a:r>
              <a:t>OBO: Caller's Azure AD token → MSAL exchanges → Cognitive Services token → Foundry agent runs as delegated user identity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Infrastructure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96B4"/>
                </a:solidFill>
                <a:latin typeface="Segoe UI"/>
              </a:defRPr>
            </a:pPr>
            <a:r>
              <a:t>Bicep templates deploy the full lab environment in minutes — AI Foundry Account, Project, and Azure AI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3291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F7"/>
                </a:solidFill>
                <a:latin typeface="Segoe UI"/>
              </a:defRPr>
            </a:pPr>
            <a:r>
              <a:t>🧠  AI Foundry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ai-services.bicep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3291840" cy="18288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9B59F7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Microsoft.CognitiveServices/accounts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9B59F7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Kind: AIServices (S0 SKU)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9B59F7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gpt-4.1 model deployment (2025-04-14)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9B59F7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text-embedding-3-large deployment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9B59F7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Managed Identity enabled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57600" cy="3291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AA0"/>
                </a:solidFill>
                <a:latin typeface="Segoe UI"/>
              </a:defRPr>
            </a:pPr>
            <a:r>
              <a:t>📁  Foundry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ai-project.bicep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94560"/>
            <a:ext cx="3291840" cy="18288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Sub-resource of AI Foundry Account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Kind: AIServices/project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Inherits account model deployments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05AA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Scoped access for lab exercises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57600" cy="329184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6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D4F0"/>
                </a:solidFill>
                <a:latin typeface="Segoe UI"/>
              </a:defRPr>
            </a:pPr>
            <a:r>
              <a:t>🔍  Azure AI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6B4"/>
                </a:solidFill>
                <a:latin typeface="Segoe UI"/>
              </a:defRPr>
            </a:pPr>
            <a:r>
              <a:t>ai-search.bicep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3291840" cy="18288"/>
          </a:xfrm>
          <a:prstGeom prst="rect">
            <a:avLst/>
          </a:prstGeom>
          <a:solidFill>
            <a:srgbClr val="56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Microsoft.Search/searchServices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Basic SKU with semantic ranking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Hybrid retrieval (vector + keyword)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Used by Labs 05 (RAG) &amp; 06 (IQ)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Deployment Commands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789920" cy="118872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42416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.\deploy.ps1 -Prefix "foundry-lab" -Location "eastus2"    # Full deployment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.\deploy.ps1 -Prefix "foundry-lab" -</a:t>
            </a:r>
            <a:r>
              <a:rPr sz="900" dirty="0" err="1"/>
              <a:t>WhatIf</a:t>
            </a:r>
            <a:r>
              <a:rPr sz="900" dirty="0"/>
              <a:t>               # Preview mode (no changes)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.\deploy.ps1 -Prefix "foundry-lab" -Walkthrough           # Guided step-by-step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endParaRPr sz="900" dirty="0"/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# Cleanup all resources</a:t>
            </a:r>
          </a:p>
          <a:p>
            <a:pPr>
              <a:spcAft>
                <a:spcPts val="200"/>
              </a:spcAft>
              <a:defRPr sz="1100">
                <a:solidFill>
                  <a:srgbClr val="56D4F0"/>
                </a:solidFill>
                <a:latin typeface="Cascadia Code"/>
              </a:defRPr>
            </a:pPr>
            <a:r>
              <a:rPr sz="900" dirty="0" err="1"/>
              <a:t>az</a:t>
            </a:r>
            <a:r>
              <a:rPr sz="900" dirty="0"/>
              <a:t> group delete --name foundry-lab-</a:t>
            </a:r>
            <a:r>
              <a:rPr sz="900" dirty="0" err="1"/>
              <a:t>rg</a:t>
            </a:r>
            <a:r>
              <a:rPr sz="900" dirty="0"/>
              <a:t> --yes --no-wait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SDK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F7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303520" cy="1352876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19"/>
            <a:ext cx="4937759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from </a:t>
            </a:r>
            <a:r>
              <a:rPr sz="900" dirty="0" err="1"/>
              <a:t>azure.identity</a:t>
            </a:r>
            <a:r>
              <a:rPr sz="900" dirty="0"/>
              <a:t> import </a:t>
            </a:r>
            <a:r>
              <a:rPr sz="900" dirty="0" err="1"/>
              <a:t>DefaultAzureCredential</a:t>
            </a: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from </a:t>
            </a:r>
            <a:r>
              <a:rPr sz="900" dirty="0" err="1"/>
              <a:t>azure.ai.projects</a:t>
            </a:r>
            <a:r>
              <a:rPr sz="900" dirty="0"/>
              <a:t> import </a:t>
            </a:r>
            <a:r>
              <a:rPr sz="900" dirty="0" err="1"/>
              <a:t>AIProjectClient</a:t>
            </a: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endParaRPr sz="9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client = </a:t>
            </a:r>
            <a:r>
              <a:rPr sz="900" dirty="0" err="1"/>
              <a:t>AIProjectClient</a:t>
            </a:r>
            <a:r>
              <a:rPr sz="9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endpoint=</a:t>
            </a:r>
            <a:r>
              <a:rPr sz="900" dirty="0" err="1"/>
              <a:t>os.environ</a:t>
            </a:r>
            <a:r>
              <a:rPr sz="900" dirty="0"/>
              <a:t>["PROJECT_ENDPOINT"],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credential=</a:t>
            </a:r>
            <a:r>
              <a:rPr sz="900" dirty="0" err="1"/>
              <a:t>DefaultAzureCredential</a:t>
            </a:r>
            <a:r>
              <a:rPr sz="900" dirty="0"/>
              <a:t>(),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AA0"/>
                </a:solidFill>
                <a:latin typeface="Segoe UI"/>
              </a:defRPr>
            </a:pPr>
            <a:r>
              <a:t>Chat Completions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5303520" cy="1371599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19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 err="1"/>
              <a:t>openai</a:t>
            </a:r>
            <a:r>
              <a:rPr sz="800" dirty="0"/>
              <a:t> = </a:t>
            </a:r>
            <a:r>
              <a:rPr sz="800" dirty="0" err="1"/>
              <a:t>client.get_openai_client</a:t>
            </a:r>
            <a:r>
              <a:rPr sz="800" dirty="0"/>
              <a:t>()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response = </a:t>
            </a:r>
            <a:r>
              <a:rPr sz="800" dirty="0" err="1"/>
              <a:t>openai.chat.completions.create</a:t>
            </a:r>
            <a:r>
              <a:rPr sz="8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model="gpt-4.1",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messages=[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    {"role": "system", "content": "..."},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    {"role": "user", "content": prompt},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],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D4F0"/>
                </a:solidFill>
                <a:latin typeface="Segoe UI"/>
              </a:defRPr>
            </a:pPr>
            <a:r>
              <a:t>Responses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303520" cy="1108166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937759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response = </a:t>
            </a:r>
            <a:r>
              <a:rPr sz="900" dirty="0" err="1"/>
              <a:t>openai.responses.create</a:t>
            </a:r>
            <a:r>
              <a:rPr sz="9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model="gpt-4.1",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    input="Explain retrieval-augmented generation.",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900" dirty="0"/>
              <a:t>print(</a:t>
            </a:r>
            <a:r>
              <a:rPr sz="900" dirty="0" err="1"/>
              <a:t>response.output_text</a:t>
            </a:r>
            <a:r>
              <a:rPr sz="900" dirty="0"/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6C"/>
                </a:solidFill>
                <a:latin typeface="Segoe UI"/>
              </a:defRPr>
            </a:pPr>
            <a:r>
              <a:t>Agent Service 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5303520" cy="1223553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49377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agent = </a:t>
            </a:r>
            <a:r>
              <a:rPr sz="800" dirty="0" err="1"/>
              <a:t>client.agents.create_version</a:t>
            </a:r>
            <a:r>
              <a:rPr sz="8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</a:t>
            </a:r>
            <a:r>
              <a:rPr sz="800" dirty="0" err="1"/>
              <a:t>agent_name</a:t>
            </a:r>
            <a:r>
              <a:rPr sz="800" dirty="0"/>
              <a:t>="my-agent",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body={"definition": {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    "kind": "prompt", "model": "gpt-4.1",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    "instructions": "You are helpful.",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}},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FA7B"/>
                </a:solidFill>
                <a:latin typeface="Segoe UI"/>
              </a:defRPr>
            </a:pPr>
            <a:r>
              <a:t>RAG Hybrid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79"/>
            <a:ext cx="5303520" cy="1016727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937759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from </a:t>
            </a:r>
            <a:r>
              <a:rPr sz="800" dirty="0" err="1"/>
              <a:t>azure.search.documents</a:t>
            </a:r>
            <a:r>
              <a:rPr sz="800" dirty="0"/>
              <a:t> import </a:t>
            </a:r>
            <a:r>
              <a:rPr sz="800" dirty="0" err="1"/>
              <a:t>SearchClient</a:t>
            </a:r>
            <a:endParaRPr sz="800" dirty="0"/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results = </a:t>
            </a:r>
            <a:r>
              <a:rPr sz="800" dirty="0" err="1"/>
              <a:t>search_client.search</a:t>
            </a:r>
            <a:r>
              <a:rPr sz="8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query, </a:t>
            </a:r>
            <a:r>
              <a:rPr sz="800" dirty="0" err="1"/>
              <a:t>vector_queries</a:t>
            </a:r>
            <a:r>
              <a:rPr sz="800" dirty="0"/>
              <a:t>=[</a:t>
            </a:r>
            <a:r>
              <a:rPr sz="800" dirty="0" err="1"/>
              <a:t>vec_query</a:t>
            </a:r>
            <a:r>
              <a:rPr sz="800" dirty="0"/>
              <a:t>],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</a:t>
            </a:r>
            <a:r>
              <a:rPr sz="800" dirty="0" err="1"/>
              <a:t>query_type</a:t>
            </a:r>
            <a:r>
              <a:rPr sz="800" dirty="0"/>
              <a:t>="semantic", top=5,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OBO Authentication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754879"/>
            <a:ext cx="5303520" cy="1096398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3A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892040"/>
            <a:ext cx="4937759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 err="1"/>
              <a:t>msal_app</a:t>
            </a:r>
            <a:r>
              <a:rPr sz="800" dirty="0"/>
              <a:t> = </a:t>
            </a:r>
            <a:r>
              <a:rPr sz="800" dirty="0" err="1"/>
              <a:t>ConfidentialClientApplication</a:t>
            </a:r>
            <a:r>
              <a:rPr sz="8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</a:t>
            </a:r>
            <a:r>
              <a:rPr sz="800" dirty="0" err="1"/>
              <a:t>client_id</a:t>
            </a:r>
            <a:r>
              <a:rPr sz="800" dirty="0"/>
              <a:t>, </a:t>
            </a:r>
            <a:r>
              <a:rPr sz="800" dirty="0" err="1"/>
              <a:t>client_credential</a:t>
            </a:r>
            <a:r>
              <a:rPr sz="800" dirty="0"/>
              <a:t>=secret,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authority=</a:t>
            </a:r>
            <a:r>
              <a:rPr sz="800" dirty="0" err="1"/>
              <a:t>f"https</a:t>
            </a:r>
            <a:r>
              <a:rPr sz="800" dirty="0"/>
              <a:t>://login.microsoftonline.com/{</a:t>
            </a:r>
            <a:r>
              <a:rPr sz="800" dirty="0" err="1"/>
              <a:t>tid</a:t>
            </a:r>
            <a:r>
              <a:rPr sz="800" dirty="0"/>
              <a:t>}"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result = </a:t>
            </a:r>
            <a:r>
              <a:rPr sz="800" dirty="0" err="1"/>
              <a:t>msal_app.acquire_token_on_behalf_of</a:t>
            </a:r>
            <a:r>
              <a:rPr sz="800" dirty="0"/>
              <a:t>(</a:t>
            </a:r>
          </a:p>
          <a:p>
            <a:pPr>
              <a:spcAft>
                <a:spcPts val="200"/>
              </a:spcAft>
              <a:defRPr sz="1000">
                <a:solidFill>
                  <a:srgbClr val="56D4F0"/>
                </a:solidFill>
                <a:latin typeface="Cascadia Code"/>
              </a:defRPr>
            </a:pPr>
            <a:r>
              <a:rPr sz="800" dirty="0"/>
              <a:t>    </a:t>
            </a:r>
            <a:r>
              <a:rPr sz="800" dirty="0" err="1"/>
              <a:t>user_assertion</a:t>
            </a:r>
            <a:r>
              <a:rPr sz="800" dirty="0"/>
              <a:t>=bearer, scopes=[</a:t>
            </a:r>
            <a:r>
              <a:rPr sz="800" dirty="0" err="1"/>
              <a:t>cog_scope</a:t>
            </a:r>
            <a:r>
              <a:rPr sz="800" dirty="0"/>
              <a:t>])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789920" cy="640080"/>
          </a:xfrm>
          <a:prstGeom prst="roundRect">
            <a:avLst/>
          </a:prstGeom>
          <a:solidFill>
            <a:srgbClr val="22183A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9893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F0"/>
                </a:solidFill>
                <a:latin typeface="Segoe UI"/>
              </a:defRPr>
            </a:pPr>
            <a:r>
              <a:t>All patterns use DefaultAzureCredential for local dev and Managed Identity in production.  The Foundry SDK wraps OpenAI-compatible endpoints — existing OpenAI code works with minimal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9B5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669280" cy="457200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9B5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Segoe UI"/>
              </a:defRPr>
            </a:pPr>
            <a:r>
              <a:t>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5029200" cy="182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Foundry SDK v2.0 auth &amp; project configuration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Chat completions with TVA persona prompt engineering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Responses API: structured output, web search, multi-turn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Agent lifecycle: instructions → tools → function calling → streaming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Agent-as-Code: YAML → hosted Agent Service v2 (portal-visible)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Multi-agent orchestration: pipeline, fan-out, supervisor, critic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Full RAG pipeline: index → embed → ingest → hybrid search → generate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Foundry IQ agentic multi-hop retrieval vs naive RAG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Production FastAPI with OBO auth &amp; SSE streaming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0FA7B"/>
                </a:solidFill>
                <a:latin typeface="Segoe UI"/>
              </a:rPr>
              <a:t>▸  </a:t>
            </a:r>
            <a:r>
              <a:rPr sz="1200">
                <a:solidFill>
                  <a:srgbClr val="E8E0F0"/>
                </a:solidFill>
                <a:latin typeface="Segoe UI"/>
              </a:rPr>
              <a:t>Container Apps deployment + Copilot Studio connector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88720"/>
            <a:ext cx="5212080" cy="274320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F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9C6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691640"/>
            <a:ext cx="4663440" cy="182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Explore AI Foundry portal for model &amp; agent management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Build custom agents with TVA domain-specific tools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Integrate Foundry IQ into existing TVA applications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Deploy multi-agent pipelines to production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Connect agents to Copilot Studio for end users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79C6"/>
                </a:solidFill>
                <a:latin typeface="Segoe UI"/>
              </a:rPr>
              <a:t>▸  </a:t>
            </a:r>
            <a:r>
              <a:rPr sz="1300">
                <a:solidFill>
                  <a:srgbClr val="E8E0F0"/>
                </a:solidFill>
                <a:latin typeface="Segoe UI"/>
              </a:rPr>
              <a:t>Evaluate agent quality with Foundry Evaluations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14800"/>
            <a:ext cx="5212080" cy="1645920"/>
          </a:xfrm>
          <a:prstGeom prst="roundRect">
            <a:avLst/>
          </a:prstGeom>
          <a:solidFill>
            <a:srgbClr val="1A122E"/>
          </a:solidFill>
          <a:ln w="19050">
            <a:solidFill>
              <a:srgbClr val="56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D4F0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4553712"/>
            <a:ext cx="4663440" cy="182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46177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→  </a:t>
            </a:r>
            <a:r>
              <a:rPr sz="1200">
                <a:solidFill>
                  <a:srgbClr val="E8E0F0"/>
                </a:solidFill>
                <a:latin typeface="Segoe UI"/>
              </a:rPr>
              <a:t>learn.microsoft.com/azure/foundry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→  </a:t>
            </a:r>
            <a:r>
              <a:rPr sz="1200">
                <a:solidFill>
                  <a:srgbClr val="E8E0F0"/>
                </a:solidFill>
                <a:latin typeface="Segoe UI"/>
              </a:rPr>
              <a:t>Foundry SDK Python API Reference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→  </a:t>
            </a:r>
            <a:r>
              <a:rPr sz="1200">
                <a:solidFill>
                  <a:srgbClr val="E8E0F0"/>
                </a:solidFill>
                <a:latin typeface="Segoe UI"/>
              </a:rPr>
              <a:t>github.com/microsoft/agent-framework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6D4F0"/>
                </a:solidFill>
                <a:latin typeface="Segoe UI"/>
              </a:rPr>
              <a:t>→  </a:t>
            </a:r>
            <a:r>
              <a:rPr sz="1200">
                <a:solidFill>
                  <a:srgbClr val="E8E0F0"/>
                </a:solidFill>
                <a:latin typeface="Segoe UI"/>
              </a:rPr>
              <a:t>github.com/microsoft-foundry/foundry-samples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035040"/>
            <a:ext cx="11155680" cy="640080"/>
          </a:xfrm>
          <a:prstGeom prst="roundRect">
            <a:avLst/>
          </a:prstGeom>
          <a:solidFill>
            <a:srgbClr val="130E22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Cleanup: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0807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6D4F0"/>
                </a:solidFill>
                <a:latin typeface="Cascadia Code"/>
              </a:defRPr>
            </a:pPr>
            <a:r>
              <a:t>az group delete --name foundry-lab-rg --yes --no-wait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2962</Words>
  <Application>Microsoft Office PowerPoint</Application>
  <PresentationFormat>Widescreen</PresentationFormat>
  <Paragraphs>459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Aaron Barth</cp:lastModifiedBy>
  <cp:revision>5</cp:revision>
  <dcterms:created xsi:type="dcterms:W3CDTF">2013-01-27T09:14:16Z</dcterms:created>
  <dcterms:modified xsi:type="dcterms:W3CDTF">2026-04-14T00:21:10Z</dcterms:modified>
  <cp:category/>
</cp:coreProperties>
</file>